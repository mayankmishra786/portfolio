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OPTION — original CSS reeded-glass. Three cover options; keep the one you like. Axion Industrial: predictive operations for manufacturers.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number: $260K per hour of unplanned downtime. Unplanned stoppages are the single largest controllable cost on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longer a fault goes undetected, the steeper the cost curve. Reactive maintenance lives on the right side of this curve.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moves: connect any equipment, predict failures with edge AI, act automatically through your CMMS.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signal-to-action loop: sensor data, edge inference, a ranked prediction, and an automated work order — closed loop, minutes not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at a tier-one automotive supplier: 38% less downtime, 22% OEE gain, six-month payback, fourteen million dollars a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in 12 weeks across four phases: connect, baseline, predict, scale. Low lift on your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tiers: Starter, Growth, Enterprise. Growth is the recommended tier for a multi-line plant.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us: built for the plant floor, vendor-neutral, edge-first, proven at scale. 240+ plants.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a 30-minute scoping call. We'll model your downtime cost and a 12-week pilot on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Axion and the illustrative disclaimer. Figures are illustrative for this fictional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500" y="0"/>
            <a:ext cx="70485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" name="Shape 1"/>
          <p:cNvSpPr/>
          <p:nvPr/>
        </p:nvSpPr>
        <p:spPr>
          <a:xfrm>
            <a:off x="11239500" y="0"/>
            <a:ext cx="7048500" cy="10287000"/>
          </a:xfrm>
          <a:prstGeom prst="rect">
            <a:avLst/>
          </a:prstGeom>
          <a:gradFill rotWithShape="1">
            <a:gsLst>
              <a:gs pos="0">
                <a:srgbClr val="1C1A17">
                  <a:alpha val="100000"/>
                </a:srgbClr>
              </a:gs>
              <a:gs pos="22000">
                <a:srgbClr val="1C1A17">
                  <a:alpha val="0"/>
                </a:srgbClr>
              </a:gs>
              <a:gs pos="78000">
                <a:srgbClr val="1C1A17">
                  <a:alpha val="0"/>
                </a:srgbClr>
              </a:gs>
              <a:gs pos="100000">
                <a:srgbClr val="1C1A17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12382500" y="-1143000"/>
            <a:ext cx="3238500" cy="12573000"/>
          </a:xfrm>
          <a:prstGeom prst="rect">
            <a:avLst/>
          </a:prstGeom>
          <a:gradFill rotWithShape="1">
            <a:gsLst>
              <a:gs pos="0">
                <a:srgbClr val="A8472A">
                  <a:alpha val="0"/>
                </a:srgbClr>
              </a:gs>
              <a:gs pos="45000">
                <a:srgbClr val="A8472A">
                  <a:alpha val="55000"/>
                </a:srgbClr>
              </a:gs>
              <a:gs pos="50000">
                <a:srgbClr val="D46C40">
                  <a:alpha val="90000"/>
                </a:srgbClr>
              </a:gs>
              <a:gs pos="55000">
                <a:srgbClr val="A8472A">
                  <a:alpha val="55000"/>
                </a:srgbClr>
              </a:gs>
              <a:gs pos="100000">
                <a:srgbClr val="A8472A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14859000" y="-1143000"/>
            <a:ext cx="1333500" cy="12573000"/>
          </a:xfrm>
          <a:prstGeom prst="rect">
            <a:avLst/>
          </a:prstGeom>
          <a:gradFill rotWithShape="1">
            <a:gsLst>
              <a:gs pos="0">
                <a:srgbClr val="A8472A">
                  <a:alpha val="0"/>
                </a:srgbClr>
              </a:gs>
              <a:gs pos="50000">
                <a:srgbClr val="A8472A">
                  <a:alpha val="35000"/>
                </a:srgbClr>
              </a:gs>
              <a:gs pos="100000">
                <a:srgbClr val="A8472A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11239500" y="0"/>
            <a:ext cx="7048500" cy="10287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/>
        </p:spPr>
      </p:sp>
      <p:sp>
        <p:nvSpPr>
          <p:cNvPr id="7" name="Text 5"/>
          <p:cNvSpPr/>
          <p:nvPr/>
        </p:nvSpPr>
        <p:spPr>
          <a:xfrm>
            <a:off x="1333500" y="590550"/>
            <a:ext cx="7334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Axion Industrial — Predictive Operations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33500" y="990600"/>
            <a:ext cx="9334500" cy="9525"/>
          </a:xfrm>
          <a:prstGeom prst="rect">
            <a:avLst/>
          </a:prstGeom>
          <a:solidFill>
            <a:srgbClr val="3A342D"/>
          </a:solidFill>
          <a:ln/>
        </p:spPr>
      </p:sp>
      <p:sp>
        <p:nvSpPr>
          <p:cNvPr id="9" name="Shape 7"/>
          <p:cNvSpPr/>
          <p:nvPr/>
        </p:nvSpPr>
        <p:spPr>
          <a:xfrm>
            <a:off x="1333500" y="990600"/>
            <a:ext cx="1143000" cy="19050"/>
          </a:xfrm>
          <a:prstGeom prst="rect">
            <a:avLst/>
          </a:prstGeom>
          <a:solidFill>
            <a:srgbClr val="A8472A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3695700"/>
            <a:ext cx="10477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 IOT · PREDICTIVE OPERATIONS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33500" y="4324350"/>
            <a:ext cx="10477500" cy="1818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17100" dirty="0">
                <a:solidFill>
                  <a:srgbClr val="EA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AXION</a:t>
            </a:r>
            <a:endParaRPr lang="en-US" sz="17100" dirty="0"/>
          </a:p>
        </p:txBody>
      </p:sp>
      <p:sp>
        <p:nvSpPr>
          <p:cNvPr id="12" name="Text 10"/>
          <p:cNvSpPr/>
          <p:nvPr/>
        </p:nvSpPr>
        <p:spPr>
          <a:xfrm>
            <a:off x="1333500" y="6105079"/>
            <a:ext cx="10477500" cy="1905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7100" dirty="0">
                <a:solidFill>
                  <a:srgbClr val="EA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</a:t>
            </a:r>
            <a:endParaRPr lang="en-US" sz="17100" dirty="0"/>
          </a:p>
        </p:txBody>
      </p:sp>
      <p:sp>
        <p:nvSpPr>
          <p:cNvPr id="13" name="Shape 11"/>
          <p:cNvSpPr/>
          <p:nvPr/>
        </p:nvSpPr>
        <p:spPr>
          <a:xfrm>
            <a:off x="1352550" y="8382000"/>
            <a:ext cx="1428750" cy="28575"/>
          </a:xfrm>
          <a:prstGeom prst="rect">
            <a:avLst/>
          </a:prstGeom>
          <a:solidFill>
            <a:srgbClr val="A84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352550" y="8667750"/>
            <a:ext cx="725995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B8B1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failures before they cost you. Connect any plant, see every signal, and turn it into action — automatically.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590550"/>
            <a:ext cx="7334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Axion Industrial — Predictive Operations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725900" y="571500"/>
            <a:ext cx="304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33500" y="990600"/>
            <a:ext cx="15621000" cy="9525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90600"/>
            <a:ext cx="1143000" cy="19050"/>
          </a:xfrm>
          <a:prstGeom prst="rect">
            <a:avLst/>
          </a:prstGeom>
          <a:solidFill>
            <a:srgbClr val="A8472A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1790700"/>
            <a:ext cx="36117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— 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3500" y="2362200"/>
            <a:ext cx="10203180" cy="1820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9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hour a line goes down, the cost compounds — in scrap, idle labor, missed orders and overtime recovery.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295400" y="5295900"/>
            <a:ext cx="10413980" cy="323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1500" spc="-315" kern="0" dirty="0">
                <a:solidFill>
                  <a:srgbClr val="A8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$260K</a:t>
            </a:r>
            <a:endParaRPr lang="en-US" sz="31500" dirty="0"/>
          </a:p>
        </p:txBody>
      </p:sp>
      <p:sp>
        <p:nvSpPr>
          <p:cNvPr id="9" name="Text 7"/>
          <p:cNvSpPr/>
          <p:nvPr/>
        </p:nvSpPr>
        <p:spPr>
          <a:xfrm>
            <a:off x="1428750" y="9334500"/>
            <a:ext cx="9429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cost of </a:t>
            </a:r>
            <a:pPr algn="l" indent="0" marL="0">
              <a:buNone/>
            </a:pPr>
            <a:r>
              <a:rPr lang="en-US" sz="2250" i="1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hour </a:t>
            </a:r>
            <a:pPr algn="l" indent="0" marL="0">
              <a:buNone/>
            </a:pPr>
            <a:r>
              <a:rPr lang="en-US" sz="225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unplanned downtime on a tier-one line.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382500" y="5334000"/>
            <a:ext cx="9525" cy="3733800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0" y="5295900"/>
            <a:ext cx="120580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12973050" y="6667500"/>
            <a:ext cx="3728085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days of production lost to unplanned stoppages, per plant, per year.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954000" y="7677150"/>
            <a:ext cx="257108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12973050" y="9048750"/>
            <a:ext cx="3728085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failures give warning signs the floor never sees in time.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590550"/>
            <a:ext cx="7334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Axion Industrial — Predictive Operations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725900" y="571500"/>
            <a:ext cx="304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33500" y="990600"/>
            <a:ext cx="15621000" cy="9525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90600"/>
            <a:ext cx="1143000" cy="19050"/>
          </a:xfrm>
          <a:prstGeom prst="rect">
            <a:avLst/>
          </a:prstGeom>
          <a:solidFill>
            <a:srgbClr val="A8472A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1790700"/>
            <a:ext cx="36117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— 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14450" y="2247900"/>
            <a:ext cx="10595610" cy="146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85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COMPOUNDS WITH EVERY MINUTE OF DELAY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12287250" y="2381250"/>
            <a:ext cx="4807268" cy="121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 a bearing fault at the </a:t>
            </a:r>
            <a:pPr algn="l" indent="0" marL="0">
              <a:lnSpc>
                <a:spcPct val="150000"/>
              </a:lnSpc>
              <a:buNone/>
            </a:pPr>
            <a:r>
              <a:rPr lang="en-US" sz="2025" i="1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whisper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it is a $400 part. Catch it at the </a:t>
            </a:r>
            <a:pPr algn="l" indent="0" marL="0">
              <a:lnSpc>
                <a:spcPct val="150000"/>
              </a:lnSpc>
              <a:buNone/>
            </a:pPr>
            <a:r>
              <a:rPr lang="en-US" sz="2025" i="1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scream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it is a $260K line stop.</a:t>
            </a:r>
            <a:endParaRPr lang="en-US" sz="202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500" y="4095750"/>
            <a:ext cx="15621000" cy="5334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33500" y="4171950"/>
            <a:ext cx="23371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of intervention →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590550"/>
            <a:ext cx="7334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Axion Industrial — Predictive Operations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725900" y="571500"/>
            <a:ext cx="304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33500" y="990600"/>
            <a:ext cx="15621000" cy="9525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90600"/>
            <a:ext cx="1143000" cy="19050"/>
          </a:xfrm>
          <a:prstGeom prst="rect">
            <a:avLst/>
          </a:prstGeom>
          <a:solidFill>
            <a:srgbClr val="A8472A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1790700"/>
            <a:ext cx="38552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— THE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14450" y="2247900"/>
            <a:ext cx="7107510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85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CONNECT. PREDICT. ACT.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1333500" y="4267200"/>
            <a:ext cx="5029200" cy="937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850" dirty="0">
                <a:solidFill>
                  <a:srgbClr val="A8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50" dirty="0"/>
          </a:p>
        </p:txBody>
      </p:sp>
      <p:sp>
        <p:nvSpPr>
          <p:cNvPr id="9" name="Text 7"/>
          <p:cNvSpPr/>
          <p:nvPr/>
        </p:nvSpPr>
        <p:spPr>
          <a:xfrm>
            <a:off x="1333500" y="5394871"/>
            <a:ext cx="5029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333500" y="6242596"/>
            <a:ext cx="4709160" cy="1632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02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an Axion edge gateway on the line. It speaks to any PLC, drive or sensor — Modbus, OPC-UA, EtherNet/IP — no rip-and-replace.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6858000" y="4267200"/>
            <a:ext cx="9525" cy="4476750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12" name="Text 10"/>
          <p:cNvSpPr/>
          <p:nvPr/>
        </p:nvSpPr>
        <p:spPr>
          <a:xfrm>
            <a:off x="7429500" y="4267200"/>
            <a:ext cx="5029200" cy="937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850" dirty="0">
                <a:solidFill>
                  <a:srgbClr val="A8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50" dirty="0"/>
          </a:p>
        </p:txBody>
      </p:sp>
      <p:sp>
        <p:nvSpPr>
          <p:cNvPr id="13" name="Text 11"/>
          <p:cNvSpPr/>
          <p:nvPr/>
        </p:nvSpPr>
        <p:spPr>
          <a:xfrm>
            <a:off x="7429500" y="5394871"/>
            <a:ext cx="5029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7429500" y="6242596"/>
            <a:ext cx="4709160" cy="1632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02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Edge-AI models learn each asset's normal and flag the anomaly — bearing wear, misalignment, thermal drift — weeks before it stops the line.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2954000" y="4267200"/>
            <a:ext cx="9525" cy="4476750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16" name="Text 14"/>
          <p:cNvSpPr/>
          <p:nvPr/>
        </p:nvSpPr>
        <p:spPr>
          <a:xfrm>
            <a:off x="13525500" y="4267200"/>
            <a:ext cx="4191000" cy="937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850" dirty="0">
                <a:solidFill>
                  <a:srgbClr val="A8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50" dirty="0"/>
          </a:p>
        </p:txBody>
      </p:sp>
      <p:sp>
        <p:nvSpPr>
          <p:cNvPr id="17" name="Text 15"/>
          <p:cNvSpPr/>
          <p:nvPr/>
        </p:nvSpPr>
        <p:spPr>
          <a:xfrm>
            <a:off x="13525500" y="5394871"/>
            <a:ext cx="41910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13525500" y="6242596"/>
            <a:ext cx="3924300" cy="20309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02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predicted failure writes a work order straight into your CMMS — with the part, the procedure and the window to fix it on your terms.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590550"/>
            <a:ext cx="7334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Axion Industrial — Predictive Operations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725900" y="571500"/>
            <a:ext cx="304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33500" y="990600"/>
            <a:ext cx="15621000" cy="9525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90600"/>
            <a:ext cx="1143000" cy="19050"/>
          </a:xfrm>
          <a:prstGeom prst="rect">
            <a:avLst/>
          </a:prstGeom>
          <a:solidFill>
            <a:srgbClr val="A8472A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1790700"/>
            <a:ext cx="38552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— THE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14450" y="2247900"/>
            <a:ext cx="7201972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85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SIGNAL TO ACTION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1333500" y="3429000"/>
            <a:ext cx="11525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closed loop, measured in minutes — not the weeks a manual inspection round takes.</a:t>
            </a:r>
            <a:endParaRPr lang="en-US" sz="2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500" y="5334000"/>
            <a:ext cx="15621000" cy="2857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5400" y="8305800"/>
            <a:ext cx="226695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Vibration, temp, current, acoustics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295900" y="8305800"/>
            <a:ext cx="226695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model scores the signal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296400" y="8305800"/>
            <a:ext cx="226695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Time-to-failure, ranked by risk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3296900" y="8305800"/>
            <a:ext cx="226695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 work-order to your CMMS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590550"/>
            <a:ext cx="7334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Axion Industrial — Predictive Operations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725900" y="571500"/>
            <a:ext cx="304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33500" y="990600"/>
            <a:ext cx="15621000" cy="9525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90600"/>
            <a:ext cx="1143000" cy="19050"/>
          </a:xfrm>
          <a:prstGeom prst="rect">
            <a:avLst/>
          </a:prstGeom>
          <a:solidFill>
            <a:srgbClr val="A8472A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1790700"/>
            <a:ext cx="31037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— THE PROOF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14450" y="2247900"/>
            <a:ext cx="5200442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85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RETURNS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10953750" y="2400300"/>
            <a:ext cx="6180773" cy="121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over twelve months at a </a:t>
            </a:r>
            <a:pPr algn="l" indent="0" marL="0">
              <a:lnSpc>
                <a:spcPct val="150000"/>
              </a:lnSpc>
              <a:buNone/>
            </a:pPr>
            <a:r>
              <a:rPr lang="en-US" sz="2025" i="1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tier-one automotive supplier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38 stamping and weld lines.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333500" y="6305550"/>
            <a:ext cx="15621000" cy="1905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4743450"/>
            <a:ext cx="4937031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0" dirty="0">
                <a:solidFill>
                  <a:srgbClr val="A8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−38%</a:t>
            </a:r>
            <a:endParaRPr lang="en-US" sz="15000" dirty="0"/>
          </a:p>
        </p:txBody>
      </p:sp>
      <p:sp>
        <p:nvSpPr>
          <p:cNvPr id="11" name="Text 9"/>
          <p:cNvSpPr/>
          <p:nvPr/>
        </p:nvSpPr>
        <p:spPr>
          <a:xfrm>
            <a:off x="1409700" y="6686550"/>
            <a:ext cx="431673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unplanned downtime across the monitored lines.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39000" y="4743450"/>
            <a:ext cx="5030019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</a:t>
            </a:r>
            <a:endParaRPr lang="en-US" sz="15000" dirty="0"/>
          </a:p>
        </p:txBody>
      </p:sp>
      <p:sp>
        <p:nvSpPr>
          <p:cNvPr id="13" name="Text 11"/>
          <p:cNvSpPr/>
          <p:nvPr/>
        </p:nvSpPr>
        <p:spPr>
          <a:xfrm>
            <a:off x="7315200" y="6686550"/>
            <a:ext cx="412051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equipment effectiveness (OEE).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573000" y="4743450"/>
            <a:ext cx="4259595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$14M</a:t>
            </a:r>
            <a:endParaRPr lang="en-US" sz="15000" dirty="0"/>
          </a:p>
        </p:txBody>
      </p:sp>
      <p:sp>
        <p:nvSpPr>
          <p:cNvPr id="15" name="Text 13"/>
          <p:cNvSpPr/>
          <p:nvPr/>
        </p:nvSpPr>
        <p:spPr>
          <a:xfrm>
            <a:off x="12649200" y="6686550"/>
            <a:ext cx="4120515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avoided losses per year — a </a:t>
            </a:r>
            <a:pPr algn="l" indent="0" marL="0">
              <a:lnSpc>
                <a:spcPct val="145000"/>
              </a:lnSpc>
              <a:buNone/>
            </a:pPr>
            <a:r>
              <a:rPr lang="en-US" sz="2100" i="1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6-month payback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590550"/>
            <a:ext cx="7334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Axion Industrial — Predictive Operations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725900" y="571500"/>
            <a:ext cx="304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33500" y="990600"/>
            <a:ext cx="15621000" cy="9525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90600"/>
            <a:ext cx="1143000" cy="19050"/>
          </a:xfrm>
          <a:prstGeom prst="rect">
            <a:avLst/>
          </a:prstGeom>
          <a:solidFill>
            <a:srgbClr val="A8472A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1790700"/>
            <a:ext cx="361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— THE ROLLOUT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14450" y="2247900"/>
            <a:ext cx="5088300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85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12 WEEKS</a:t>
            </a:r>
            <a:endParaRPr lang="en-US" sz="5850" dirty="0"/>
          </a:p>
        </p:txBody>
      </p:sp>
      <p:sp>
        <p:nvSpPr>
          <p:cNvPr id="8" name="Shape 6"/>
          <p:cNvSpPr/>
          <p:nvPr/>
        </p:nvSpPr>
        <p:spPr>
          <a:xfrm>
            <a:off x="1905000" y="6096000"/>
            <a:ext cx="14478000" cy="19050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9" name="Shape 7"/>
          <p:cNvSpPr/>
          <p:nvPr/>
        </p:nvSpPr>
        <p:spPr>
          <a:xfrm>
            <a:off x="1905000" y="6029325"/>
            <a:ext cx="171450" cy="171450"/>
          </a:xfrm>
          <a:prstGeom prst="ellipse">
            <a:avLst/>
          </a:prstGeom>
          <a:solidFill>
            <a:srgbClr val="A8472A"/>
          </a:solidFill>
          <a:ln/>
        </p:spPr>
      </p:sp>
      <p:sp>
        <p:nvSpPr>
          <p:cNvPr id="10" name="Shape 8"/>
          <p:cNvSpPr/>
          <p:nvPr/>
        </p:nvSpPr>
        <p:spPr>
          <a:xfrm>
            <a:off x="6153150" y="6029325"/>
            <a:ext cx="171450" cy="171450"/>
          </a:xfrm>
          <a:prstGeom prst="ellipse">
            <a:avLst/>
          </a:prstGeom>
          <a:solidFill>
            <a:srgbClr val="A8472A"/>
          </a:solidFill>
          <a:ln/>
        </p:spPr>
      </p:sp>
      <p:sp>
        <p:nvSpPr>
          <p:cNvPr id="11" name="Shape 9"/>
          <p:cNvSpPr/>
          <p:nvPr/>
        </p:nvSpPr>
        <p:spPr>
          <a:xfrm>
            <a:off x="10401300" y="6029325"/>
            <a:ext cx="171450" cy="171450"/>
          </a:xfrm>
          <a:prstGeom prst="ellipse">
            <a:avLst/>
          </a:prstGeom>
          <a:solidFill>
            <a:srgbClr val="A84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16211550" y="6029325"/>
            <a:ext cx="171450" cy="171450"/>
          </a:xfrm>
          <a:prstGeom prst="ellipse">
            <a:avLst/>
          </a:prstGeom>
          <a:solidFill>
            <a:srgbClr val="A84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905000" y="4476750"/>
            <a:ext cx="39814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1–2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905000" y="4924425"/>
            <a:ext cx="39814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905000" y="6667500"/>
            <a:ext cx="3728085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Gateways installed on priority lines; data flowing to the Axion edge.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6153150" y="4476750"/>
            <a:ext cx="39814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3–5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153150" y="4924425"/>
            <a:ext cx="39814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53150" y="6667500"/>
            <a:ext cx="372808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learn each asset's normal signature and alarm thresholds.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401300" y="4476750"/>
            <a:ext cx="39814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6–9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401300" y="4924425"/>
            <a:ext cx="39814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0401300" y="6667500"/>
            <a:ext cx="372808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Predictions live; work orders auto-routed into your CMMS.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3449300" y="4476750"/>
            <a:ext cx="29337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spc="330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10–12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3449300" y="4924425"/>
            <a:ext cx="2933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00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3635990" y="6667500"/>
            <a:ext cx="2747010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 out plant-wide; handoff to your reliability team.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590550"/>
            <a:ext cx="7334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Axion Industrial — Predictive Operations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725900" y="571500"/>
            <a:ext cx="304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33500" y="990600"/>
            <a:ext cx="15621000" cy="9525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90600"/>
            <a:ext cx="1143000" cy="19050"/>
          </a:xfrm>
          <a:prstGeom prst="rect">
            <a:avLst/>
          </a:prstGeom>
          <a:solidFill>
            <a:srgbClr val="A8472A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1790700"/>
            <a:ext cx="34099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— INVESTMENT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14450" y="2247900"/>
            <a:ext cx="11806178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85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THAT SCALES WITH YOUR FLOOR</a:t>
            </a:r>
            <a:endParaRPr lang="en-US" sz="5850" dirty="0"/>
          </a:p>
        </p:txBody>
      </p:sp>
      <p:sp>
        <p:nvSpPr>
          <p:cNvPr id="8" name="Shape 6"/>
          <p:cNvSpPr/>
          <p:nvPr/>
        </p:nvSpPr>
        <p:spPr>
          <a:xfrm>
            <a:off x="1333500" y="4095750"/>
            <a:ext cx="4762500" cy="4953000"/>
          </a:xfrm>
          <a:prstGeom prst="rect">
            <a:avLst/>
          </a:prstGeom>
          <a:solidFill>
            <a:srgbClr val="FFFFFF">
              <a:alpha val="35000"/>
            </a:srgbClr>
          </a:solidFill>
          <a:ln w="9525">
            <a:solidFill>
              <a:srgbClr val="D4CE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2600" y="4476750"/>
            <a:ext cx="107692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752600" y="4991100"/>
            <a:ext cx="23386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line, one plant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52600" y="5391150"/>
            <a:ext cx="1667723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$3.5K</a:t>
            </a:r>
            <a:endParaRPr lang="en-US" sz="5550" dirty="0"/>
          </a:p>
        </p:txBody>
      </p:sp>
      <p:sp>
        <p:nvSpPr>
          <p:cNvPr id="12" name="Text 10"/>
          <p:cNvSpPr/>
          <p:nvPr/>
        </p:nvSpPr>
        <p:spPr>
          <a:xfrm>
            <a:off x="1752600" y="6210300"/>
            <a:ext cx="16236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line / month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752600" y="6781800"/>
            <a:ext cx="412051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gateway + sensors Anomaly detection Email &amp; dashboard alerts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62750" y="3848100"/>
            <a:ext cx="4762500" cy="5448300"/>
          </a:xfrm>
          <a:prstGeom prst="rect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A84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2750" y="3848100"/>
            <a:ext cx="4762500" cy="476250"/>
          </a:xfrm>
          <a:prstGeom prst="rect">
            <a:avLst/>
          </a:prstGeom>
          <a:solidFill>
            <a:srgbClr val="A8472A"/>
          </a:solidFill>
          <a:ln/>
        </p:spPr>
      </p:sp>
      <p:sp>
        <p:nvSpPr>
          <p:cNvPr id="16" name="Text 14"/>
          <p:cNvSpPr/>
          <p:nvPr/>
        </p:nvSpPr>
        <p:spPr>
          <a:xfrm>
            <a:off x="6691313" y="3943350"/>
            <a:ext cx="49053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spc="36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81850" y="4705350"/>
            <a:ext cx="106531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7181850" y="5219700"/>
            <a:ext cx="17765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Multi-line plant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81850" y="5619750"/>
            <a:ext cx="1363712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dirty="0">
                <a:solidFill>
                  <a:srgbClr val="A8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$12K</a:t>
            </a:r>
            <a:endParaRPr lang="en-US" sz="5550" dirty="0"/>
          </a:p>
        </p:txBody>
      </p:sp>
      <p:sp>
        <p:nvSpPr>
          <p:cNvPr id="20" name="Text 18"/>
          <p:cNvSpPr/>
          <p:nvPr/>
        </p:nvSpPr>
        <p:spPr>
          <a:xfrm>
            <a:off x="7181850" y="6438900"/>
            <a:ext cx="17651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plant / month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181850" y="7010400"/>
            <a:ext cx="4120515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Starter Failure prediction + RUL Auto work-orders to CMMS Reliability success manager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192000" y="4095750"/>
            <a:ext cx="4762500" cy="4953000"/>
          </a:xfrm>
          <a:prstGeom prst="rect">
            <a:avLst/>
          </a:prstGeom>
          <a:solidFill>
            <a:srgbClr val="FFFFFF">
              <a:alpha val="35000"/>
            </a:srgbClr>
          </a:solidFill>
          <a:ln w="9525">
            <a:solidFill>
              <a:srgbClr val="D4CE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611100" y="4476750"/>
            <a:ext cx="151105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2611100" y="4991100"/>
            <a:ext cx="15868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 of plants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611100" y="5391150"/>
            <a:ext cx="2354818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5550" dirty="0"/>
          </a:p>
        </p:txBody>
      </p:sp>
      <p:sp>
        <p:nvSpPr>
          <p:cNvPr id="26" name="Text 24"/>
          <p:cNvSpPr/>
          <p:nvPr/>
        </p:nvSpPr>
        <p:spPr>
          <a:xfrm>
            <a:off x="12611100" y="6210300"/>
            <a:ext cx="209451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&amp; SLA based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2611100" y="6781800"/>
            <a:ext cx="4120515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Growth On-prem / private cloud SSO, audit &amp; 99.9% SLA Dedicated solutions team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590550"/>
            <a:ext cx="7334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Axion Industrial — Predictive Operations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725900" y="571500"/>
            <a:ext cx="304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33500" y="990600"/>
            <a:ext cx="15621000" cy="9525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90600"/>
            <a:ext cx="1143000" cy="19050"/>
          </a:xfrm>
          <a:prstGeom prst="rect">
            <a:avLst/>
          </a:prstGeom>
          <a:solidFill>
            <a:srgbClr val="A8472A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1790700"/>
            <a:ext cx="31797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— WHY AXION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14450" y="2247900"/>
            <a:ext cx="8205192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85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PLANT FLOOR</a:t>
            </a:r>
            <a:endParaRPr lang="en-US" sz="5850" dirty="0"/>
          </a:p>
        </p:txBody>
      </p:sp>
      <p:sp>
        <p:nvSpPr>
          <p:cNvPr id="8" name="Shape 6"/>
          <p:cNvSpPr/>
          <p:nvPr/>
        </p:nvSpPr>
        <p:spPr>
          <a:xfrm>
            <a:off x="1333500" y="4305300"/>
            <a:ext cx="7239000" cy="9525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4562475"/>
            <a:ext cx="7456170" cy="874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325" i="1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Vendor-neutral. </a:t>
            </a:r>
            <a:pPr algn="l" indent="0" marL="0">
              <a:lnSpc>
                <a:spcPct val="140000"/>
              </a:lnSpc>
              <a:buNone/>
            </a:pPr>
            <a:r>
              <a:rPr lang="en-US" sz="2325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PLC, any sensor, any CMMS — we sit on top of what you already run.</a:t>
            </a:r>
            <a:endParaRPr lang="en-US" sz="2325" dirty="0"/>
          </a:p>
        </p:txBody>
      </p:sp>
      <p:sp>
        <p:nvSpPr>
          <p:cNvPr id="10" name="Shape 8"/>
          <p:cNvSpPr/>
          <p:nvPr/>
        </p:nvSpPr>
        <p:spPr>
          <a:xfrm>
            <a:off x="1333500" y="5646241"/>
            <a:ext cx="7239000" cy="9525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5903416"/>
            <a:ext cx="7456170" cy="874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325" i="1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Edge-first. </a:t>
            </a:r>
            <a:pPr algn="l" indent="0" marL="0">
              <a:lnSpc>
                <a:spcPct val="140000"/>
              </a:lnSpc>
              <a:buNone/>
            </a:pPr>
            <a:r>
              <a:rPr lang="en-US" sz="2325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 runs on the line, so prediction survives a network outage.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1333500" y="6987183"/>
            <a:ext cx="7239000" cy="9525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7244358"/>
            <a:ext cx="7456170" cy="874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325" i="1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 at scale. </a:t>
            </a:r>
            <a:pPr algn="l" indent="0" marL="0">
              <a:lnSpc>
                <a:spcPct val="140000"/>
              </a:lnSpc>
              <a:buNone/>
            </a:pPr>
            <a:r>
              <a:rPr lang="en-US" sz="2325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Deployed across heavy industry, not a pilot looking for a reference.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10096500" y="4305300"/>
            <a:ext cx="3562350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800" dirty="0">
                <a:solidFill>
                  <a:srgbClr val="A8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240+</a:t>
            </a:r>
            <a:endParaRPr lang="en-US" sz="7800" dirty="0"/>
          </a:p>
        </p:txBody>
      </p:sp>
      <p:sp>
        <p:nvSpPr>
          <p:cNvPr id="15" name="Text 13"/>
          <p:cNvSpPr/>
          <p:nvPr/>
        </p:nvSpPr>
        <p:spPr>
          <a:xfrm>
            <a:off x="10096500" y="5242471"/>
            <a:ext cx="3562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plants running Axion today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3716000" y="4305300"/>
            <a:ext cx="3562350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80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9M+</a:t>
            </a:r>
            <a:endParaRPr lang="en-US" sz="7800" dirty="0"/>
          </a:p>
        </p:txBody>
      </p:sp>
      <p:sp>
        <p:nvSpPr>
          <p:cNvPr id="17" name="Text 15"/>
          <p:cNvSpPr/>
          <p:nvPr/>
        </p:nvSpPr>
        <p:spPr>
          <a:xfrm>
            <a:off x="13716000" y="5242471"/>
            <a:ext cx="3562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assets under live monitoring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096500" y="6496050"/>
            <a:ext cx="3562350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80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14D</a:t>
            </a:r>
            <a:endParaRPr lang="en-US" sz="7800" dirty="0"/>
          </a:p>
        </p:txBody>
      </p:sp>
      <p:sp>
        <p:nvSpPr>
          <p:cNvPr id="19" name="Text 17"/>
          <p:cNvSpPr/>
          <p:nvPr/>
        </p:nvSpPr>
        <p:spPr>
          <a:xfrm>
            <a:off x="10096500" y="7433221"/>
            <a:ext cx="35623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 warning before failure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3716000" y="6496050"/>
            <a:ext cx="3562350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80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7800" dirty="0"/>
          </a:p>
        </p:txBody>
      </p:sp>
      <p:sp>
        <p:nvSpPr>
          <p:cNvPr id="21" name="Text 19"/>
          <p:cNvSpPr/>
          <p:nvPr/>
        </p:nvSpPr>
        <p:spPr>
          <a:xfrm>
            <a:off x="13716000" y="7433221"/>
            <a:ext cx="333565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precision on critical assets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2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590550"/>
            <a:ext cx="7334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A91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Axion Industrial — Predictive Operations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333500" y="990600"/>
            <a:ext cx="15621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990600"/>
            <a:ext cx="1143000" cy="19050"/>
          </a:xfrm>
          <a:prstGeom prst="rect">
            <a:avLst/>
          </a:prstGeom>
          <a:solidFill>
            <a:srgbClr val="A8472A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857500"/>
            <a:ext cx="37971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E0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GET STARTED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14450" y="3390900"/>
            <a:ext cx="14716125" cy="249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0" dirty="0">
                <a:solidFill>
                  <a:srgbClr val="F2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PAYING FOR DOWNTIME YOU CAN PREDICT</a:t>
            </a:r>
            <a:endParaRPr lang="en-US" sz="10500" dirty="0"/>
          </a:p>
        </p:txBody>
      </p:sp>
      <p:sp>
        <p:nvSpPr>
          <p:cNvPr id="7" name="Shape 5"/>
          <p:cNvSpPr/>
          <p:nvPr/>
        </p:nvSpPr>
        <p:spPr>
          <a:xfrm>
            <a:off x="1352550" y="7239000"/>
            <a:ext cx="1428750" cy="28575"/>
          </a:xfrm>
          <a:prstGeom prst="rect">
            <a:avLst/>
          </a:prstGeom>
          <a:solidFill>
            <a:srgbClr val="A8472A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" y="7543800"/>
            <a:ext cx="882967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CFC7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a 30-minute scoping call. We'll model your downtime cost and design a 12-week pilot on your most critical line.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1352550" y="9010650"/>
            <a:ext cx="303863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A91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sales@axionindustrial.io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5334000" y="9010650"/>
            <a:ext cx="208633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A91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 (312) 555-0142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9334500" y="9010650"/>
            <a:ext cx="220715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A91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axionindustrial.io</a:t>
            </a:r>
            <a:endParaRPr lang="en-US" sz="20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590550"/>
            <a:ext cx="7334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Axion Industrial — Predictive Operations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725900" y="571500"/>
            <a:ext cx="304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33500" y="990600"/>
            <a:ext cx="15621000" cy="9525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90600"/>
            <a:ext cx="1143000" cy="19050"/>
          </a:xfrm>
          <a:prstGeom prst="rect">
            <a:avLst/>
          </a:prstGeom>
          <a:solidFill>
            <a:srgbClr val="A8472A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1790700"/>
            <a:ext cx="37820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04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— ABOUT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14450" y="2247900"/>
            <a:ext cx="743902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850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AXION INDUSTRIAL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1333500" y="4095750"/>
            <a:ext cx="8241030" cy="2247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75" dirty="0">
                <a:solidFill>
                  <a:srgbClr val="56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Axion Industrial builds predictive-operations software for manufacturers. We connect the equipment you already run, predict failures at the edge, and turn each prediction into an automated work order — so reliability teams act on the signal instead of the breakdown.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10477500" y="4095750"/>
            <a:ext cx="6477000" cy="9525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0" y="4276725"/>
            <a:ext cx="66713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477500" y="4667250"/>
            <a:ext cx="71247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 · Chicago, Illinois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477500" y="5362575"/>
            <a:ext cx="6477000" cy="9525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0" y="5543550"/>
            <a:ext cx="66713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FOOTPRINT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477500" y="5934075"/>
            <a:ext cx="71247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240+ plants · 11 countries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477500" y="6629400"/>
            <a:ext cx="6477000" cy="9525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0" y="6810375"/>
            <a:ext cx="66713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A8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477500" y="7200900"/>
            <a:ext cx="71247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Automotive · Metals · Food &amp; beverage · CPG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33500" y="9010650"/>
            <a:ext cx="15621000" cy="9525"/>
          </a:xfrm>
          <a:prstGeom prst="rect">
            <a:avLst/>
          </a:prstGeom>
          <a:solidFill>
            <a:srgbClr val="D4CEC1"/>
          </a:solidFill>
          <a:ln/>
        </p:spPr>
      </p:sp>
      <p:sp>
        <p:nvSpPr>
          <p:cNvPr id="19" name="Text 17"/>
          <p:cNvSpPr/>
          <p:nvPr/>
        </p:nvSpPr>
        <p:spPr>
          <a:xfrm>
            <a:off x="1333500" y="9201150"/>
            <a:ext cx="1718310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i="1" dirty="0">
                <a:solidFill>
                  <a:srgbClr val="8B8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Illustrative example. "Axion Industrial" is a fictional company; all figures, customers and results shown are hypothetical and for demonstration purposes only.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2026-06-21T07:37:53Z</dcterms:created>
  <dcterms:modified xsi:type="dcterms:W3CDTF">2026-06-21T07:37:53Z</dcterms:modified>
</cp:coreProperties>
</file>