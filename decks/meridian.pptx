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composure. Q3 was a quarter of disciplined, compounding progress — revenue and EPS both up, margins expanding, capital strong. We'll walk highlights, the segments, the balance sheet, and our outlook.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tell the quarter: revenue $1.40B up 8.6%, diluted EPS $1.68 up 18.3%, ROTCE 16.2%, and the efficiency ratio down to 54.8%. Earnings grew faster than revenue — operating leverage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straight quarters of revenue growth, now $1.40B. EPS has compounded faster — $1.42 to $1.68 — helped by margin expansion, expense discipline, and buybacks reducing the share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was broad-based. Consumer and Commercial are the engines by size; Wealth Management is the fastest grower at nearly 13%, on net new assets and higher fee income. Capital Markets was steady in a quieter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interest margin expanded again to 3.12%, up 20 basis points YoY, as assets repriced ahead of funding. Combined with expense discipline, the efficiency ratio improved to 54.8% — every revenue dollar is working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is strong. CET1 of 12.4% sits well above the 8.0% regulatory minimum, liquidity coverage is 128%, and credit quality is benign with non-performing loans at just 0.71%. We have ample capacity to keep investing and returning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full year we're holding revenue growth of 7 to 9%, NIM in the low 3.10s to 3.20%, an efficiency ratio below 55%, and ROTCE of 15 to 16%. The shape of the year is steady, disciplined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raised the quarterly dividend 9% to $0.48 and repurchased $420M of stock in the quarter, retiring 5.1M shares. Total payout was 62% — returning capital while keeping the balance sheet fortress-strong.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honest word on what we're watching: rates, credit, regulation, deposit competition, and operational risk. None change the thesis, but all warrant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line to remember. We enter the next cycle from a position of strength — disciplined growth that compounds. Thank you; we'll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for Investor Relations, plus the required non-GAAP and forward-looking notes. All figures here are illustrative and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31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30000">
                <a:srgbClr val="131316">
                  <a:alpha val="100000"/>
                </a:srgbClr>
              </a:gs>
              <a:gs pos="46000">
                <a:srgbClr val="131316">
                  <a:alpha val="78000"/>
                </a:srgbClr>
              </a:gs>
              <a:gs pos="70000">
                <a:srgbClr val="131316">
                  <a:alpha val="18000"/>
                </a:srgbClr>
              </a:gs>
              <a:gs pos="86000">
                <a:srgbClr val="131316">
                  <a:alpha val="0"/>
                </a:srgbClr>
              </a:gs>
            </a:gsLst>
            <a:lin ang="300000" scaled="0"/>
          </a:gradFill>
          <a:ln/>
        </p:spPr>
      </p:sp>
      <p:sp>
        <p:nvSpPr>
          <p:cNvPr id="3" name="Shape 1"/>
          <p:cNvSpPr/>
          <p:nvPr/>
        </p:nvSpPr>
        <p:spPr>
          <a:xfrm>
            <a:off x="0" y="0"/>
            <a:ext cx="18288000" cy="10287000"/>
          </a:xfrm>
          <a:prstGeom prst="rect">
            <a:avLst/>
          </a:prstGeom>
          <a:gradFill rotWithShape="1">
            <a:gsLst>
              <a:gs pos="0">
                <a:srgbClr val="131316">
                  <a:alpha val="65000"/>
                </a:srgbClr>
              </a:gs>
              <a:gs pos="30000">
                <a:srgbClr val="131316">
                  <a:alpha val="0"/>
                </a:srgbClr>
              </a:gs>
            </a:gsLst>
            <a:lin ang="16200000" scaled="0"/>
          </a:gradFill>
          <a:ln/>
        </p:spPr>
      </p:sp>
      <p:sp>
        <p:nvSpPr>
          <p:cNvPr id="4" name="Text 2"/>
          <p:cNvSpPr/>
          <p:nvPr/>
        </p:nvSpPr>
        <p:spPr>
          <a:xfrm>
            <a:off x="1143000" y="547688"/>
            <a:ext cx="1267271" cy="323850"/>
          </a:xfrm>
          <a:prstGeom prst="rect">
            <a:avLst/>
          </a:prstGeom>
          <a:noFill/>
          <a:ln/>
        </p:spPr>
        <p:txBody>
          <a:bodyPr wrap="square" lIns="0" tIns="0" rIns="0" bIns="0" rtlCol="0" anchor="t">
            <a:normAutofit/>
          </a:bodyPr>
          <a:lstStyle/>
          <a:p>
            <a:pPr algn="l" indent="0" marL="0">
              <a:buNone/>
            </a:pPr>
            <a:r>
              <a:rPr lang="en-US" sz="1950" b="1" spc="-19" kern="0" dirty="0">
                <a:solidFill>
                  <a:srgbClr val="F6F4EF"/>
                </a:solidFill>
                <a:latin typeface="Arial" pitchFamily="34" charset="0"/>
                <a:ea typeface="Arial" pitchFamily="34" charset="-122"/>
                <a:cs typeface="Arial" pitchFamily="34" charset="-120"/>
              </a:rPr>
              <a:t>MERIDIAN</a:t>
            </a:r>
            <a:endParaRPr lang="en-US" sz="1950" dirty="0"/>
          </a:p>
        </p:txBody>
      </p:sp>
      <p:sp>
        <p:nvSpPr>
          <p:cNvPr id="5" name="Text 3"/>
          <p:cNvSpPr/>
          <p:nvPr/>
        </p:nvSpPr>
        <p:spPr>
          <a:xfrm>
            <a:off x="2334071" y="525810"/>
            <a:ext cx="161181" cy="171450"/>
          </a:xfrm>
          <a:prstGeom prst="rect">
            <a:avLst/>
          </a:prstGeom>
          <a:noFill/>
          <a:ln/>
        </p:spPr>
        <p:txBody>
          <a:bodyPr wrap="square" lIns="25400" tIns="25400" rIns="25400" bIns="25400" rtlCol="0" anchor="t">
            <a:normAutofit/>
          </a:bodyPr>
          <a:lstStyle/>
          <a:p>
            <a:pPr algn="l" indent="0" marL="0">
              <a:buNone/>
            </a:pPr>
            <a:r>
              <a:rPr lang="en-US" sz="900" b="1" spc="-19" kern="0" dirty="0">
                <a:solidFill>
                  <a:srgbClr val="F6F4EF"/>
                </a:solidFill>
                <a:latin typeface="Arial" pitchFamily="34" charset="0"/>
                <a:ea typeface="Arial" pitchFamily="34" charset="-122"/>
                <a:cs typeface="Arial" pitchFamily="34" charset="-120"/>
              </a:rPr>
              <a:t>©</a:t>
            </a:r>
            <a:endParaRPr lang="en-US" sz="900" dirty="0"/>
          </a:p>
        </p:txBody>
      </p:sp>
      <p:sp>
        <p:nvSpPr>
          <p:cNvPr id="6" name="Text 4"/>
          <p:cNvSpPr/>
          <p:nvPr/>
        </p:nvSpPr>
        <p:spPr>
          <a:xfrm>
            <a:off x="16131480" y="514350"/>
            <a:ext cx="1089720" cy="400050"/>
          </a:xfrm>
          <a:prstGeom prst="rect">
            <a:avLst/>
          </a:prstGeom>
          <a:noFill/>
          <a:ln/>
        </p:spPr>
        <p:txBody>
          <a:bodyPr wrap="square" lIns="25400" tIns="25400" rIns="25400" bIns="25400" rtlCol="0" anchor="ctr">
            <a:normAutofit/>
          </a:bodyPr>
          <a:lstStyle/>
          <a:p>
            <a:pPr algn="l" indent="0" marL="0">
              <a:buNone/>
            </a:pPr>
            <a:r>
              <a:rPr lang="en-US" sz="1050" spc="189" kern="0" dirty="0">
                <a:solidFill>
                  <a:srgbClr val="F6F4EF">
                    <a:alpha val="62000"/>
                  </a:srgbClr>
                </a:solidFill>
                <a:latin typeface="Arial" pitchFamily="34" charset="0"/>
                <a:ea typeface="Arial" pitchFamily="34" charset="-122"/>
                <a:cs typeface="Arial" pitchFamily="34" charset="-120"/>
              </a:rPr>
              <a:t>NYSE: MRDN</a:t>
            </a:r>
            <a:endParaRPr lang="en-US" sz="1050" dirty="0"/>
          </a:p>
        </p:txBody>
      </p:sp>
      <p:sp>
        <p:nvSpPr>
          <p:cNvPr id="7" name="Shape 5"/>
          <p:cNvSpPr/>
          <p:nvPr/>
        </p:nvSpPr>
        <p:spPr>
          <a:xfrm>
            <a:off x="1143000" y="1009650"/>
            <a:ext cx="16002000" cy="9525"/>
          </a:xfrm>
          <a:prstGeom prst="rect">
            <a:avLst/>
          </a:prstGeom>
          <a:solidFill>
            <a:srgbClr val="F6F4EF">
              <a:alpha val="18000"/>
            </a:srgbClr>
          </a:solidFill>
          <a:ln/>
        </p:spPr>
      </p:sp>
      <p:sp>
        <p:nvSpPr>
          <p:cNvPr id="8" name="Text 6"/>
          <p:cNvSpPr/>
          <p:nvPr/>
        </p:nvSpPr>
        <p:spPr>
          <a:xfrm>
            <a:off x="1143000" y="4953000"/>
            <a:ext cx="12363450" cy="266700"/>
          </a:xfrm>
          <a:prstGeom prst="rect">
            <a:avLst/>
          </a:prstGeom>
          <a:noFill/>
          <a:ln/>
        </p:spPr>
        <p:txBody>
          <a:bodyPr wrap="square" lIns="25400" tIns="25400" rIns="25400" bIns="25400" rtlCol="0" anchor="t">
            <a:normAutofit/>
          </a:bodyPr>
          <a:lstStyle/>
          <a:p>
            <a:pPr algn="l" indent="0" marL="0">
              <a:buNone/>
            </a:pPr>
            <a:r>
              <a:rPr lang="en-US" sz="1425" spc="257" kern="0" dirty="0">
                <a:solidFill>
                  <a:srgbClr val="FF4A1C"/>
                </a:solidFill>
                <a:latin typeface="Arial" pitchFamily="34" charset="0"/>
                <a:ea typeface="Arial" pitchFamily="34" charset="-122"/>
                <a:cs typeface="Arial" pitchFamily="34" charset="-120"/>
              </a:rPr>
              <a:t>THIRD QUARTER 2026 · EARNINGS &amp; INVESTOR PRESENTATION</a:t>
            </a:r>
            <a:endParaRPr lang="en-US" sz="1425" dirty="0"/>
          </a:p>
        </p:txBody>
      </p:sp>
      <p:sp>
        <p:nvSpPr>
          <p:cNvPr id="9" name="Text 7"/>
          <p:cNvSpPr/>
          <p:nvPr/>
        </p:nvSpPr>
        <p:spPr>
          <a:xfrm>
            <a:off x="1143000" y="5467350"/>
            <a:ext cx="12363450" cy="1563886"/>
          </a:xfrm>
          <a:prstGeom prst="rect">
            <a:avLst/>
          </a:prstGeom>
          <a:noFill/>
          <a:ln/>
        </p:spPr>
        <p:txBody>
          <a:bodyPr wrap="square" lIns="25400" tIns="25400" rIns="25400" bIns="25400" rtlCol="0" anchor="t">
            <a:normAutofit/>
          </a:bodyPr>
          <a:lstStyle/>
          <a:p>
            <a:pPr algn="l" indent="0" marL="0">
              <a:lnSpc>
                <a:spcPct val="90000"/>
              </a:lnSpc>
              <a:buNone/>
            </a:pPr>
            <a:r>
              <a:rPr lang="en-US" sz="13350" b="1" spc="-534" kern="0" dirty="0">
                <a:solidFill>
                  <a:srgbClr val="F6F4EF"/>
                </a:solidFill>
                <a:latin typeface="Arial" pitchFamily="34" charset="0"/>
                <a:ea typeface="Arial" pitchFamily="34" charset="-122"/>
                <a:cs typeface="Arial" pitchFamily="34" charset="-120"/>
              </a:rPr>
              <a:t>Q3</a:t>
            </a:r>
            <a:pPr algn="l" indent="0" marL="0">
              <a:lnSpc>
                <a:spcPct val="90000"/>
              </a:lnSpc>
              <a:buNone/>
            </a:pPr>
            <a:r>
              <a:rPr lang="en-US" sz="13350" b="1" spc="-534" kern="0" dirty="0">
                <a:solidFill>
                  <a:srgbClr val="FF4A1C"/>
                </a:solidFill>
                <a:latin typeface="Arial" pitchFamily="34" charset="0"/>
                <a:ea typeface="Arial" pitchFamily="34" charset="-122"/>
                <a:cs typeface="Arial" pitchFamily="34" charset="-120"/>
              </a:rPr>
              <a:t>.</a:t>
            </a:r>
            <a:endParaRPr lang="en-US" sz="13350" dirty="0"/>
          </a:p>
        </p:txBody>
      </p:sp>
      <p:sp>
        <p:nvSpPr>
          <p:cNvPr id="10" name="Text 8"/>
          <p:cNvSpPr/>
          <p:nvPr/>
        </p:nvSpPr>
        <p:spPr>
          <a:xfrm>
            <a:off x="1143000" y="7126486"/>
            <a:ext cx="12363450" cy="934194"/>
          </a:xfrm>
          <a:prstGeom prst="rect">
            <a:avLst/>
          </a:prstGeom>
          <a:noFill/>
          <a:ln/>
        </p:spPr>
        <p:txBody>
          <a:bodyPr wrap="square" lIns="25400" tIns="25400" rIns="25400" bIns="25400" rtlCol="0" anchor="t">
            <a:normAutofit/>
          </a:bodyPr>
          <a:lstStyle/>
          <a:p>
            <a:pPr algn="l" indent="0" marL="0">
              <a:lnSpc>
                <a:spcPct val="98000"/>
              </a:lnSpc>
              <a:buNone/>
            </a:pPr>
            <a:r>
              <a:rPr lang="en-US" sz="7200" b="1" spc="-216" kern="0" dirty="0">
                <a:solidFill>
                  <a:srgbClr val="F6F4EF"/>
                </a:solidFill>
                <a:latin typeface="Arial" pitchFamily="34" charset="0"/>
                <a:ea typeface="Arial" pitchFamily="34" charset="-122"/>
                <a:cs typeface="Arial" pitchFamily="34" charset="-120"/>
              </a:rPr>
              <a:t>Results &amp; review</a:t>
            </a:r>
            <a:endParaRPr lang="en-US" sz="7200" dirty="0"/>
          </a:p>
        </p:txBody>
      </p:sp>
      <p:sp>
        <p:nvSpPr>
          <p:cNvPr id="11" name="Shape 9"/>
          <p:cNvSpPr/>
          <p:nvPr/>
        </p:nvSpPr>
        <p:spPr>
          <a:xfrm>
            <a:off x="1143000" y="9144000"/>
            <a:ext cx="57150" cy="533400"/>
          </a:xfrm>
          <a:prstGeom prst="rect">
            <a:avLst/>
          </a:prstGeom>
          <a:solidFill>
            <a:srgbClr val="FF4A1C"/>
          </a:solidFill>
          <a:ln/>
        </p:spPr>
      </p:sp>
      <p:sp>
        <p:nvSpPr>
          <p:cNvPr id="12" name="Text 10"/>
          <p:cNvSpPr/>
          <p:nvPr/>
        </p:nvSpPr>
        <p:spPr>
          <a:xfrm>
            <a:off x="1409700" y="9077325"/>
            <a:ext cx="7456170" cy="638175"/>
          </a:xfrm>
          <a:prstGeom prst="rect">
            <a:avLst/>
          </a:prstGeom>
          <a:noFill/>
          <a:ln/>
        </p:spPr>
        <p:txBody>
          <a:bodyPr wrap="square" lIns="25400" tIns="25400" rIns="25400" bIns="25400" rtlCol="0" anchor="t">
            <a:normAutofit/>
          </a:bodyPr>
          <a:lstStyle/>
          <a:p>
            <a:pPr algn="l" indent="0" marL="0">
              <a:lnSpc>
                <a:spcPct val="150000"/>
              </a:lnSpc>
              <a:buNone/>
            </a:pPr>
            <a:r>
              <a:rPr lang="en-US" sz="1575" dirty="0">
                <a:solidFill>
                  <a:srgbClr val="F6F4EF">
                    <a:alpha val="72000"/>
                  </a:srgbClr>
                </a:solidFill>
                <a:latin typeface="Arial" pitchFamily="34" charset="0"/>
                <a:ea typeface="Arial" pitchFamily="34" charset="-122"/>
                <a:cs typeface="Arial" pitchFamily="34" charset="-120"/>
              </a:rPr>
              <a:t>Meridian Financial Group · reporting for the three months ended September 30, 2026.</a:t>
            </a:r>
            <a:endParaRPr lang="en-US" sz="1575" dirty="0"/>
          </a:p>
        </p:txBody>
      </p:sp>
      <p:sp>
        <p:nvSpPr>
          <p:cNvPr id="13" name="Text 11"/>
          <p:cNvSpPr/>
          <p:nvPr/>
        </p:nvSpPr>
        <p:spPr>
          <a:xfrm>
            <a:off x="15420975" y="9159478"/>
            <a:ext cx="1724025" cy="556022"/>
          </a:xfrm>
          <a:prstGeom prst="rect">
            <a:avLst/>
          </a:prstGeom>
          <a:noFill/>
          <a:ln/>
        </p:spPr>
        <p:txBody>
          <a:bodyPr wrap="square" lIns="25400" tIns="25400" rIns="25400" bIns="25400" rtlCol="0" anchor="t">
            <a:normAutofit/>
          </a:bodyPr>
          <a:lstStyle/>
          <a:p>
            <a:pPr algn="r" indent="0" marL="0">
              <a:lnSpc>
                <a:spcPct val="170000"/>
              </a:lnSpc>
              <a:buNone/>
            </a:pPr>
            <a:r>
              <a:rPr lang="en-US" sz="1200" dirty="0">
                <a:solidFill>
                  <a:srgbClr val="F6F4EF">
                    <a:alpha val="50000"/>
                  </a:srgbClr>
                </a:solidFill>
                <a:latin typeface="Arial" pitchFamily="34" charset="0"/>
                <a:ea typeface="Arial" pitchFamily="34" charset="-122"/>
                <a:cs typeface="Arial" pitchFamily="34" charset="-120"/>
              </a:rPr>
              <a:t>Investor Relations investor.meridianfg.com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131316"/>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131316"/>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888480" cy="361950"/>
          </a:xfrm>
          <a:prstGeom prst="roundRect">
            <a:avLst>
              <a:gd name="adj" fmla="val 50000"/>
            </a:avLst>
          </a:prstGeom>
          <a:ln w="9525">
            <a:solidFill>
              <a:srgbClr val="131316">
                <a:alpha val="28000"/>
              </a:srgbClr>
            </a:solidFill>
            <a:prstDash val="solid"/>
          </a:ln>
        </p:spPr>
      </p:sp>
      <p:sp>
        <p:nvSpPr>
          <p:cNvPr id="5" name="Text 3"/>
          <p:cNvSpPr/>
          <p:nvPr/>
        </p:nvSpPr>
        <p:spPr>
          <a:xfrm>
            <a:off x="3124200" y="523875"/>
            <a:ext cx="1659880"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5B5B58"/>
                </a:solidFill>
                <a:latin typeface="Arial" pitchFamily="34" charset="0"/>
                <a:ea typeface="Arial" pitchFamily="34" charset="-122"/>
                <a:cs typeface="Arial" pitchFamily="34" charset="-120"/>
              </a:rPr>
              <a:t>QUARTER HIGHLIGHTS</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131316">
              <a:alpha val="16000"/>
            </a:srgbClr>
          </a:solidFill>
          <a:ln/>
        </p:spPr>
      </p:sp>
      <p:sp>
        <p:nvSpPr>
          <p:cNvPr id="8" name="Text 6"/>
          <p:cNvSpPr/>
          <p:nvPr/>
        </p:nvSpPr>
        <p:spPr>
          <a:xfrm>
            <a:off x="15837545" y="1333500"/>
            <a:ext cx="1438201" cy="1257300"/>
          </a:xfrm>
          <a:prstGeom prst="rect">
            <a:avLst/>
          </a:prstGeom>
          <a:noFill/>
          <a:ln/>
        </p:spPr>
        <p:txBody>
          <a:bodyPr wrap="square" lIns="25400" tIns="25400" rIns="25400" bIns="25400" rtlCol="0" anchor="t">
            <a:normAutofit/>
          </a:bodyPr>
          <a:lstStyle/>
          <a:p>
            <a:pPr algn="l" indent="0" marL="0">
              <a:lnSpc>
                <a:spcPct val="100000"/>
              </a:lnSpc>
              <a:buNone/>
            </a:pPr>
            <a:r>
              <a:rPr lang="en-US" sz="9600" b="1" spc="-192" kern="0" dirty="0">
                <a:ln w="13335">
                  <a:solidFill>
                    <a:srgbClr val="131316"/>
                  </a:solidFill>
                </a:ln>
                <a:solidFill>
                  <a:srgbClr val="000000">
                    <a:alpha val="0"/>
                  </a:srgbClr>
                </a:solidFill>
                <a:latin typeface="Arial" pitchFamily="34" charset="0"/>
                <a:ea typeface="Arial" pitchFamily="34" charset="-122"/>
                <a:cs typeface="Arial" pitchFamily="34" charset="-120"/>
              </a:rPr>
              <a:t>02</a:t>
            </a:r>
            <a:endParaRPr lang="en-US" sz="9600" dirty="0"/>
          </a:p>
        </p:txBody>
      </p:sp>
      <p:sp>
        <p:nvSpPr>
          <p:cNvPr id="9" name="Text 7"/>
          <p:cNvSpPr/>
          <p:nvPr/>
        </p:nvSpPr>
        <p:spPr>
          <a:xfrm>
            <a:off x="1143000" y="1962150"/>
            <a:ext cx="9810750" cy="1531441"/>
          </a:xfrm>
          <a:prstGeom prst="rect">
            <a:avLst/>
          </a:prstGeom>
          <a:noFill/>
          <a:ln/>
        </p:spPr>
        <p:txBody>
          <a:bodyPr wrap="square" lIns="25400" tIns="25400" rIns="25400" bIns="25400" rtlCol="0" anchor="t">
            <a:normAutofit/>
          </a:bodyPr>
          <a:lstStyle/>
          <a:p>
            <a:pPr algn="l" indent="0" marL="0">
              <a:lnSpc>
                <a:spcPct val="98000"/>
              </a:lnSpc>
              <a:buNone/>
            </a:pPr>
            <a:r>
              <a:rPr lang="en-US" sz="6000" b="1" spc="-180" kern="0" dirty="0">
                <a:solidFill>
                  <a:srgbClr val="131316"/>
                </a:solidFill>
                <a:latin typeface="Arial" pitchFamily="34" charset="0"/>
                <a:ea typeface="Arial" pitchFamily="34" charset="-122"/>
                <a:cs typeface="Arial" pitchFamily="34" charset="-120"/>
              </a:rPr>
              <a:t>A quarter of disciplined, compounding progress.</a:t>
            </a:r>
            <a:endParaRPr lang="en-US" sz="6000" dirty="0"/>
          </a:p>
        </p:txBody>
      </p:sp>
      <p:sp>
        <p:nvSpPr>
          <p:cNvPr id="10" name="Shape 8"/>
          <p:cNvSpPr/>
          <p:nvPr/>
        </p:nvSpPr>
        <p:spPr>
          <a:xfrm>
            <a:off x="5133975" y="5334000"/>
            <a:ext cx="9525" cy="1647825"/>
          </a:xfrm>
          <a:prstGeom prst="rect">
            <a:avLst/>
          </a:prstGeom>
          <a:solidFill>
            <a:srgbClr val="131316">
              <a:alpha val="16000"/>
            </a:srgbClr>
          </a:solidFill>
          <a:ln/>
        </p:spPr>
      </p:sp>
      <p:sp>
        <p:nvSpPr>
          <p:cNvPr id="11" name="Text 9"/>
          <p:cNvSpPr/>
          <p:nvPr/>
        </p:nvSpPr>
        <p:spPr>
          <a:xfrm>
            <a:off x="1143000" y="5334000"/>
            <a:ext cx="3970973"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131316"/>
                </a:solidFill>
                <a:latin typeface="Arial" pitchFamily="34" charset="0"/>
                <a:ea typeface="Arial" pitchFamily="34" charset="-122"/>
                <a:cs typeface="Arial" pitchFamily="34" charset="-120"/>
              </a:rPr>
              <a:t>$1.40</a:t>
            </a:r>
            <a:pPr algn="l" indent="0" marL="0">
              <a:lnSpc>
                <a:spcPct val="100000"/>
              </a:lnSpc>
              <a:buNone/>
            </a:pPr>
            <a:r>
              <a:rPr lang="en-US" sz="3450" b="1" spc="-216" kern="0" dirty="0">
                <a:solidFill>
                  <a:srgbClr val="131316"/>
                </a:solidFill>
                <a:latin typeface="Arial" pitchFamily="34" charset="0"/>
                <a:ea typeface="Arial" pitchFamily="34" charset="-122"/>
                <a:cs typeface="Arial" pitchFamily="34" charset="-120"/>
              </a:rPr>
              <a:t>B</a:t>
            </a:r>
            <a:endParaRPr lang="en-US" sz="7200" dirty="0"/>
          </a:p>
        </p:txBody>
      </p:sp>
      <p:sp>
        <p:nvSpPr>
          <p:cNvPr id="12" name="Text 10"/>
          <p:cNvSpPr/>
          <p:nvPr/>
        </p:nvSpPr>
        <p:spPr>
          <a:xfrm>
            <a:off x="1143000" y="6477000"/>
            <a:ext cx="3970973"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A8A86"/>
                </a:solidFill>
                <a:latin typeface="Arial" pitchFamily="34" charset="0"/>
                <a:ea typeface="Arial" pitchFamily="34" charset="-122"/>
                <a:cs typeface="Arial" pitchFamily="34" charset="-120"/>
              </a:rPr>
              <a:t>TOTAL REVENUE</a:t>
            </a:r>
            <a:endParaRPr lang="en-US" sz="1050" dirty="0"/>
          </a:p>
        </p:txBody>
      </p:sp>
      <p:sp>
        <p:nvSpPr>
          <p:cNvPr id="13" name="Text 11"/>
          <p:cNvSpPr/>
          <p:nvPr/>
        </p:nvSpPr>
        <p:spPr>
          <a:xfrm>
            <a:off x="1143000" y="6743700"/>
            <a:ext cx="3970973"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3756A"/>
                </a:solidFill>
                <a:latin typeface="Arial" pitchFamily="34" charset="0"/>
                <a:ea typeface="Arial" pitchFamily="34" charset="-122"/>
                <a:cs typeface="Arial" pitchFamily="34" charset="-120"/>
              </a:rPr>
              <a:t>▲ 8.6% YoY</a:t>
            </a:r>
            <a:endParaRPr lang="en-US" sz="1500" dirty="0"/>
          </a:p>
        </p:txBody>
      </p:sp>
      <p:sp>
        <p:nvSpPr>
          <p:cNvPr id="14" name="Shape 12"/>
          <p:cNvSpPr/>
          <p:nvPr/>
        </p:nvSpPr>
        <p:spPr>
          <a:xfrm>
            <a:off x="9134475" y="5334000"/>
            <a:ext cx="9525" cy="1647825"/>
          </a:xfrm>
          <a:prstGeom prst="rect">
            <a:avLst/>
          </a:prstGeom>
          <a:solidFill>
            <a:srgbClr val="131316">
              <a:alpha val="16000"/>
            </a:srgbClr>
          </a:solidFill>
          <a:ln/>
        </p:spPr>
      </p:sp>
      <p:sp>
        <p:nvSpPr>
          <p:cNvPr id="15" name="Text 13"/>
          <p:cNvSpPr/>
          <p:nvPr/>
        </p:nvSpPr>
        <p:spPr>
          <a:xfrm>
            <a:off x="5524500" y="5334000"/>
            <a:ext cx="3551873"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FF4A1C"/>
                </a:solidFill>
                <a:latin typeface="Arial" pitchFamily="34" charset="0"/>
                <a:ea typeface="Arial" pitchFamily="34" charset="-122"/>
                <a:cs typeface="Arial" pitchFamily="34" charset="-120"/>
              </a:rPr>
              <a:t>$1.68</a:t>
            </a:r>
            <a:endParaRPr lang="en-US" sz="7200" dirty="0"/>
          </a:p>
        </p:txBody>
      </p:sp>
      <p:sp>
        <p:nvSpPr>
          <p:cNvPr id="16" name="Text 14"/>
          <p:cNvSpPr/>
          <p:nvPr/>
        </p:nvSpPr>
        <p:spPr>
          <a:xfrm>
            <a:off x="5524500" y="6477000"/>
            <a:ext cx="3551873"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A8A86"/>
                </a:solidFill>
                <a:latin typeface="Arial" pitchFamily="34" charset="0"/>
                <a:ea typeface="Arial" pitchFamily="34" charset="-122"/>
                <a:cs typeface="Arial" pitchFamily="34" charset="-120"/>
              </a:rPr>
              <a:t>DILUTED EPS</a:t>
            </a:r>
            <a:endParaRPr lang="en-US" sz="1050" dirty="0"/>
          </a:p>
        </p:txBody>
      </p:sp>
      <p:sp>
        <p:nvSpPr>
          <p:cNvPr id="17" name="Text 15"/>
          <p:cNvSpPr/>
          <p:nvPr/>
        </p:nvSpPr>
        <p:spPr>
          <a:xfrm>
            <a:off x="5524500" y="6743700"/>
            <a:ext cx="3551873"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3756A"/>
                </a:solidFill>
                <a:latin typeface="Arial" pitchFamily="34" charset="0"/>
                <a:ea typeface="Arial" pitchFamily="34" charset="-122"/>
                <a:cs typeface="Arial" pitchFamily="34" charset="-120"/>
              </a:rPr>
              <a:t>▲ 18.3% YoY</a:t>
            </a:r>
            <a:endParaRPr lang="en-US" sz="1500" dirty="0"/>
          </a:p>
        </p:txBody>
      </p:sp>
      <p:sp>
        <p:nvSpPr>
          <p:cNvPr id="18" name="Shape 16"/>
          <p:cNvSpPr/>
          <p:nvPr/>
        </p:nvSpPr>
        <p:spPr>
          <a:xfrm>
            <a:off x="13134975" y="5334000"/>
            <a:ext cx="9525" cy="1647825"/>
          </a:xfrm>
          <a:prstGeom prst="rect">
            <a:avLst/>
          </a:prstGeom>
          <a:solidFill>
            <a:srgbClr val="131316">
              <a:alpha val="16000"/>
            </a:srgbClr>
          </a:solidFill>
          <a:ln/>
        </p:spPr>
      </p:sp>
      <p:sp>
        <p:nvSpPr>
          <p:cNvPr id="19" name="Text 17"/>
          <p:cNvSpPr/>
          <p:nvPr/>
        </p:nvSpPr>
        <p:spPr>
          <a:xfrm>
            <a:off x="9525000" y="5334000"/>
            <a:ext cx="3551873"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131316"/>
                </a:solidFill>
                <a:latin typeface="Arial" pitchFamily="34" charset="0"/>
                <a:ea typeface="Arial" pitchFamily="34" charset="-122"/>
                <a:cs typeface="Arial" pitchFamily="34" charset="-120"/>
              </a:rPr>
              <a:t>16.2</a:t>
            </a:r>
            <a:pPr algn="l" indent="0" marL="0">
              <a:lnSpc>
                <a:spcPct val="100000"/>
              </a:lnSpc>
              <a:buNone/>
            </a:pPr>
            <a:r>
              <a:rPr lang="en-US" sz="3450" b="1" spc="-216" kern="0" dirty="0">
                <a:solidFill>
                  <a:srgbClr val="131316"/>
                </a:solidFill>
                <a:latin typeface="Arial" pitchFamily="34" charset="0"/>
                <a:ea typeface="Arial" pitchFamily="34" charset="-122"/>
                <a:cs typeface="Arial" pitchFamily="34" charset="-120"/>
              </a:rPr>
              <a:t>%</a:t>
            </a:r>
            <a:endParaRPr lang="en-US" sz="7200" dirty="0"/>
          </a:p>
        </p:txBody>
      </p:sp>
      <p:sp>
        <p:nvSpPr>
          <p:cNvPr id="20" name="Text 18"/>
          <p:cNvSpPr/>
          <p:nvPr/>
        </p:nvSpPr>
        <p:spPr>
          <a:xfrm>
            <a:off x="9525000" y="6477000"/>
            <a:ext cx="3551873"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A8A86"/>
                </a:solidFill>
                <a:latin typeface="Arial" pitchFamily="34" charset="0"/>
                <a:ea typeface="Arial" pitchFamily="34" charset="-122"/>
                <a:cs typeface="Arial" pitchFamily="34" charset="-120"/>
              </a:rPr>
              <a:t>ROTCE</a:t>
            </a:r>
            <a:endParaRPr lang="en-US" sz="1050" dirty="0"/>
          </a:p>
        </p:txBody>
      </p:sp>
      <p:sp>
        <p:nvSpPr>
          <p:cNvPr id="21" name="Text 19"/>
          <p:cNvSpPr/>
          <p:nvPr/>
        </p:nvSpPr>
        <p:spPr>
          <a:xfrm>
            <a:off x="9525000" y="6743700"/>
            <a:ext cx="3551873"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3756A"/>
                </a:solidFill>
                <a:latin typeface="Arial" pitchFamily="34" charset="0"/>
                <a:ea typeface="Arial" pitchFamily="34" charset="-122"/>
                <a:cs typeface="Arial" pitchFamily="34" charset="-120"/>
              </a:rPr>
              <a:t>▲ 180 bps YoY</a:t>
            </a:r>
            <a:endParaRPr lang="en-US" sz="1500" dirty="0"/>
          </a:p>
        </p:txBody>
      </p:sp>
      <p:sp>
        <p:nvSpPr>
          <p:cNvPr id="22" name="Text 20"/>
          <p:cNvSpPr/>
          <p:nvPr/>
        </p:nvSpPr>
        <p:spPr>
          <a:xfrm>
            <a:off x="13525500" y="5334000"/>
            <a:ext cx="398145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131316"/>
                </a:solidFill>
                <a:latin typeface="Arial" pitchFamily="34" charset="0"/>
                <a:ea typeface="Arial" pitchFamily="34" charset="-122"/>
                <a:cs typeface="Arial" pitchFamily="34" charset="-120"/>
              </a:rPr>
              <a:t>54.8</a:t>
            </a:r>
            <a:pPr algn="l" indent="0" marL="0">
              <a:lnSpc>
                <a:spcPct val="100000"/>
              </a:lnSpc>
              <a:buNone/>
            </a:pPr>
            <a:r>
              <a:rPr lang="en-US" sz="3450" b="1" spc="-216" kern="0" dirty="0">
                <a:solidFill>
                  <a:srgbClr val="131316"/>
                </a:solidFill>
                <a:latin typeface="Arial" pitchFamily="34" charset="0"/>
                <a:ea typeface="Arial" pitchFamily="34" charset="-122"/>
                <a:cs typeface="Arial" pitchFamily="34" charset="-120"/>
              </a:rPr>
              <a:t>%</a:t>
            </a:r>
            <a:endParaRPr lang="en-US" sz="7200" dirty="0"/>
          </a:p>
        </p:txBody>
      </p:sp>
      <p:sp>
        <p:nvSpPr>
          <p:cNvPr id="23" name="Text 21"/>
          <p:cNvSpPr/>
          <p:nvPr/>
        </p:nvSpPr>
        <p:spPr>
          <a:xfrm>
            <a:off x="13525500" y="6477000"/>
            <a:ext cx="3981450"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A8A86"/>
                </a:solidFill>
                <a:latin typeface="Arial" pitchFamily="34" charset="0"/>
                <a:ea typeface="Arial" pitchFamily="34" charset="-122"/>
                <a:cs typeface="Arial" pitchFamily="34" charset="-120"/>
              </a:rPr>
              <a:t>EFFICIENCY RATIO</a:t>
            </a:r>
            <a:endParaRPr lang="en-US" sz="1050" dirty="0"/>
          </a:p>
        </p:txBody>
      </p:sp>
      <p:sp>
        <p:nvSpPr>
          <p:cNvPr id="24" name="Text 22"/>
          <p:cNvSpPr/>
          <p:nvPr/>
        </p:nvSpPr>
        <p:spPr>
          <a:xfrm>
            <a:off x="13525500" y="6743700"/>
            <a:ext cx="398145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3756A"/>
                </a:solidFill>
                <a:latin typeface="Arial" pitchFamily="34" charset="0"/>
                <a:ea typeface="Arial" pitchFamily="34" charset="-122"/>
                <a:cs typeface="Arial" pitchFamily="34" charset="-120"/>
              </a:rPr>
              <a:t>▼ 210 bps YoY</a:t>
            </a:r>
            <a:endParaRPr lang="en-US" sz="1500" dirty="0"/>
          </a:p>
        </p:txBody>
      </p:sp>
      <p:sp>
        <p:nvSpPr>
          <p:cNvPr id="25" name="Text 23"/>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Q3 2026 EARNINGS</a:t>
            </a:r>
            <a:endParaRPr lang="en-US" sz="900" dirty="0"/>
          </a:p>
        </p:txBody>
      </p:sp>
      <p:sp>
        <p:nvSpPr>
          <p:cNvPr id="26" name="Text 24"/>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02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316"/>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F6F4EF"/>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F6F4EF"/>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407765" cy="361950"/>
          </a:xfrm>
          <a:prstGeom prst="roundRect">
            <a:avLst>
              <a:gd name="adj" fmla="val 50000"/>
            </a:avLst>
          </a:prstGeom>
          <a:ln w="9525">
            <a:solidFill>
              <a:srgbClr val="F6F4EF">
                <a:alpha val="30000"/>
              </a:srgbClr>
            </a:solidFill>
            <a:prstDash val="solid"/>
          </a:ln>
        </p:spPr>
      </p:sp>
      <p:sp>
        <p:nvSpPr>
          <p:cNvPr id="5" name="Text 3"/>
          <p:cNvSpPr/>
          <p:nvPr/>
        </p:nvSpPr>
        <p:spPr>
          <a:xfrm>
            <a:off x="3124200" y="523875"/>
            <a:ext cx="1179165"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C9C7C0"/>
                </a:solidFill>
                <a:latin typeface="Arial" pitchFamily="34" charset="0"/>
                <a:ea typeface="Arial" pitchFamily="34" charset="-122"/>
                <a:cs typeface="Arial" pitchFamily="34" charset="-120"/>
              </a:rPr>
              <a:t>REVENUE &amp; EPS</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9A9A9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F6F4EF">
              <a:alpha val="18000"/>
            </a:srgbClr>
          </a:solidFill>
          <a:ln/>
        </p:spPr>
      </p:sp>
      <p:sp>
        <p:nvSpPr>
          <p:cNvPr id="8" name="Text 6"/>
          <p:cNvSpPr/>
          <p:nvPr/>
        </p:nvSpPr>
        <p:spPr>
          <a:xfrm>
            <a:off x="1143000" y="1524000"/>
            <a:ext cx="2495610"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03 — TOP &amp; BOTTOM LINE</a:t>
            </a:r>
            <a:endParaRPr lang="en-US" sz="1125" dirty="0"/>
          </a:p>
        </p:txBody>
      </p:sp>
      <p:sp>
        <p:nvSpPr>
          <p:cNvPr id="9" name="Text 7"/>
          <p:cNvSpPr/>
          <p:nvPr/>
        </p:nvSpPr>
        <p:spPr>
          <a:xfrm>
            <a:off x="1143000" y="1847850"/>
            <a:ext cx="8877226"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F6F4EF"/>
                </a:solidFill>
                <a:latin typeface="Arial" pitchFamily="34" charset="0"/>
                <a:ea typeface="Arial" pitchFamily="34" charset="-122"/>
                <a:cs typeface="Arial" pitchFamily="34" charset="-120"/>
              </a:rPr>
              <a:t>Revenue and earnings per share</a:t>
            </a:r>
            <a:endParaRPr lang="en-US" sz="4650" dirty="0"/>
          </a:p>
        </p:txBody>
      </p:sp>
      <p:sp>
        <p:nvSpPr>
          <p:cNvPr id="10" name="Text 8"/>
          <p:cNvSpPr/>
          <p:nvPr/>
        </p:nvSpPr>
        <p:spPr>
          <a:xfrm>
            <a:off x="1143000" y="3429000"/>
            <a:ext cx="4505325" cy="1028700"/>
          </a:xfrm>
          <a:prstGeom prst="rect">
            <a:avLst/>
          </a:prstGeom>
          <a:noFill/>
          <a:ln/>
        </p:spPr>
        <p:txBody>
          <a:bodyPr wrap="square" lIns="25400" tIns="25400" rIns="25400" bIns="25400" rtlCol="0" anchor="t">
            <a:normAutofit/>
          </a:bodyPr>
          <a:lstStyle/>
          <a:p>
            <a:pPr algn="l" indent="0" marL="0">
              <a:lnSpc>
                <a:spcPct val="100000"/>
              </a:lnSpc>
              <a:buNone/>
            </a:pPr>
            <a:r>
              <a:rPr lang="en-US" sz="7800" b="1" spc="-234" kern="0" dirty="0">
                <a:solidFill>
                  <a:srgbClr val="F6F4EF"/>
                </a:solidFill>
                <a:latin typeface="Arial" pitchFamily="34" charset="0"/>
                <a:ea typeface="Arial" pitchFamily="34" charset="-122"/>
                <a:cs typeface="Arial" pitchFamily="34" charset="-120"/>
              </a:rPr>
              <a:t>$1.40</a:t>
            </a:r>
            <a:pPr algn="l" indent="0" marL="0">
              <a:lnSpc>
                <a:spcPct val="100000"/>
              </a:lnSpc>
              <a:buNone/>
            </a:pPr>
            <a:r>
              <a:rPr lang="en-US" sz="3600" b="1" spc="-234" kern="0" dirty="0">
                <a:solidFill>
                  <a:srgbClr val="F6F4EF"/>
                </a:solidFill>
                <a:latin typeface="Arial" pitchFamily="34" charset="0"/>
                <a:ea typeface="Arial" pitchFamily="34" charset="-122"/>
                <a:cs typeface="Arial" pitchFamily="34" charset="-120"/>
              </a:rPr>
              <a:t>B</a:t>
            </a:r>
            <a:endParaRPr lang="en-US" sz="7800" dirty="0"/>
          </a:p>
        </p:txBody>
      </p:sp>
      <p:sp>
        <p:nvSpPr>
          <p:cNvPr id="11" name="Text 9"/>
          <p:cNvSpPr/>
          <p:nvPr/>
        </p:nvSpPr>
        <p:spPr>
          <a:xfrm>
            <a:off x="1143000" y="4610100"/>
            <a:ext cx="4505325"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NET REVENUE, Q3 2026</a:t>
            </a:r>
            <a:endParaRPr lang="en-US" sz="1050" dirty="0"/>
          </a:p>
        </p:txBody>
      </p:sp>
      <p:sp>
        <p:nvSpPr>
          <p:cNvPr id="12" name="Text 10"/>
          <p:cNvSpPr/>
          <p:nvPr/>
        </p:nvSpPr>
        <p:spPr>
          <a:xfrm>
            <a:off x="1143000" y="4857750"/>
            <a:ext cx="450532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C9C7C0"/>
                </a:solidFill>
                <a:latin typeface="Arial" pitchFamily="34" charset="0"/>
                <a:ea typeface="Arial" pitchFamily="34" charset="-122"/>
                <a:cs typeface="Arial" pitchFamily="34" charset="-120"/>
              </a:rPr>
              <a:t>+8.6% YoY · +2.2% QoQ</a:t>
            </a:r>
            <a:endParaRPr lang="en-US" sz="1425" dirty="0"/>
          </a:p>
        </p:txBody>
      </p:sp>
      <p:sp>
        <p:nvSpPr>
          <p:cNvPr id="13" name="Shape 11"/>
          <p:cNvSpPr/>
          <p:nvPr/>
        </p:nvSpPr>
        <p:spPr>
          <a:xfrm>
            <a:off x="1143000" y="5448300"/>
            <a:ext cx="4095750" cy="9525"/>
          </a:xfrm>
          <a:prstGeom prst="rect">
            <a:avLst/>
          </a:prstGeom>
          <a:solidFill>
            <a:srgbClr val="F6F4EF">
              <a:alpha val="14000"/>
            </a:srgbClr>
          </a:solidFill>
          <a:ln/>
        </p:spPr>
      </p:sp>
      <p:sp>
        <p:nvSpPr>
          <p:cNvPr id="14" name="Text 12"/>
          <p:cNvSpPr/>
          <p:nvPr/>
        </p:nvSpPr>
        <p:spPr>
          <a:xfrm>
            <a:off x="1143000" y="5819775"/>
            <a:ext cx="4505325" cy="1028700"/>
          </a:xfrm>
          <a:prstGeom prst="rect">
            <a:avLst/>
          </a:prstGeom>
          <a:noFill/>
          <a:ln/>
        </p:spPr>
        <p:txBody>
          <a:bodyPr wrap="square" lIns="25400" tIns="25400" rIns="25400" bIns="25400" rtlCol="0" anchor="t">
            <a:normAutofit/>
          </a:bodyPr>
          <a:lstStyle/>
          <a:p>
            <a:pPr algn="l" indent="0" marL="0">
              <a:lnSpc>
                <a:spcPct val="100000"/>
              </a:lnSpc>
              <a:buNone/>
            </a:pPr>
            <a:r>
              <a:rPr lang="en-US" sz="7800" b="1" spc="-234" kern="0" dirty="0">
                <a:solidFill>
                  <a:srgbClr val="FF4A1C"/>
                </a:solidFill>
                <a:latin typeface="Arial" pitchFamily="34" charset="0"/>
                <a:ea typeface="Arial" pitchFamily="34" charset="-122"/>
                <a:cs typeface="Arial" pitchFamily="34" charset="-120"/>
              </a:rPr>
              <a:t>$1.68</a:t>
            </a:r>
            <a:endParaRPr lang="en-US" sz="7800" dirty="0"/>
          </a:p>
        </p:txBody>
      </p:sp>
      <p:sp>
        <p:nvSpPr>
          <p:cNvPr id="15" name="Text 13"/>
          <p:cNvSpPr/>
          <p:nvPr/>
        </p:nvSpPr>
        <p:spPr>
          <a:xfrm>
            <a:off x="1143000" y="7000875"/>
            <a:ext cx="4505325"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DILUTED EPS, Q3 2026</a:t>
            </a:r>
            <a:endParaRPr lang="en-US" sz="1050" dirty="0"/>
          </a:p>
        </p:txBody>
      </p:sp>
      <p:sp>
        <p:nvSpPr>
          <p:cNvPr id="16" name="Text 14"/>
          <p:cNvSpPr/>
          <p:nvPr/>
        </p:nvSpPr>
        <p:spPr>
          <a:xfrm>
            <a:off x="1143000" y="7248525"/>
            <a:ext cx="450532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C9C7C0"/>
                </a:solidFill>
                <a:latin typeface="Arial" pitchFamily="34" charset="0"/>
                <a:ea typeface="Arial" pitchFamily="34" charset="-122"/>
                <a:cs typeface="Arial" pitchFamily="34" charset="-120"/>
              </a:rPr>
              <a:t>+18.3% YoY · $1.42 a year ago</a:t>
            </a:r>
            <a:endParaRPr lang="en-US" sz="1425" dirty="0"/>
          </a:p>
        </p:txBody>
      </p:sp>
      <p:sp>
        <p:nvSpPr>
          <p:cNvPr id="17" name="Text 15"/>
          <p:cNvSpPr/>
          <p:nvPr/>
        </p:nvSpPr>
        <p:spPr>
          <a:xfrm>
            <a:off x="6096000" y="3276600"/>
            <a:ext cx="2210753"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9A9A96"/>
                </a:solidFill>
                <a:latin typeface="Arial" pitchFamily="34" charset="0"/>
                <a:ea typeface="Arial" pitchFamily="34" charset="-122"/>
                <a:cs typeface="Arial" pitchFamily="34" charset="-120"/>
              </a:rPr>
              <a:t>NET REVENUE ($M) · BARS</a:t>
            </a:r>
            <a:endParaRPr lang="en-US" sz="975" dirty="0"/>
          </a:p>
        </p:txBody>
      </p:sp>
      <p:sp>
        <p:nvSpPr>
          <p:cNvPr id="18" name="Text 16"/>
          <p:cNvSpPr/>
          <p:nvPr/>
        </p:nvSpPr>
        <p:spPr>
          <a:xfrm>
            <a:off x="15348645" y="3276600"/>
            <a:ext cx="1975991"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F4A1C"/>
                </a:solidFill>
                <a:latin typeface="Arial" pitchFamily="34" charset="0"/>
                <a:ea typeface="Arial" pitchFamily="34" charset="-122"/>
                <a:cs typeface="Arial" pitchFamily="34" charset="-120"/>
              </a:rPr>
              <a:t>DILUTED EPS ($) · LINE</a:t>
            </a:r>
            <a:endParaRPr lang="en-US" sz="975"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96000" y="3514725"/>
            <a:ext cx="11049000" cy="5192911"/>
          </a:xfrm>
          <a:prstGeom prst="rect">
            <a:avLst/>
          </a:prstGeom>
        </p:spPr>
      </p:pic>
      <p:sp>
        <p:nvSpPr>
          <p:cNvPr id="20" name="Text 17"/>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Q3 2026 EARNINGS</a:t>
            </a:r>
            <a:endParaRPr lang="en-US" sz="900" dirty="0"/>
          </a:p>
        </p:txBody>
      </p:sp>
      <p:sp>
        <p:nvSpPr>
          <p:cNvPr id="21" name="Text 18"/>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03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131316"/>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131316"/>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052810" cy="361950"/>
          </a:xfrm>
          <a:prstGeom prst="roundRect">
            <a:avLst>
              <a:gd name="adj" fmla="val 50000"/>
            </a:avLst>
          </a:prstGeom>
          <a:ln w="9525">
            <a:solidFill>
              <a:srgbClr val="131316">
                <a:alpha val="28000"/>
              </a:srgbClr>
            </a:solidFill>
            <a:prstDash val="solid"/>
          </a:ln>
        </p:spPr>
      </p:sp>
      <p:sp>
        <p:nvSpPr>
          <p:cNvPr id="5" name="Text 3"/>
          <p:cNvSpPr/>
          <p:nvPr/>
        </p:nvSpPr>
        <p:spPr>
          <a:xfrm>
            <a:off x="3124200" y="523875"/>
            <a:ext cx="824210"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5B5B58"/>
                </a:solidFill>
                <a:latin typeface="Arial" pitchFamily="34" charset="0"/>
                <a:ea typeface="Arial" pitchFamily="34" charset="-122"/>
                <a:cs typeface="Arial" pitchFamily="34" charset="-120"/>
              </a:rPr>
              <a:t>SEGMENTS</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131316">
              <a:alpha val="16000"/>
            </a:srgbClr>
          </a:solidFill>
          <a:ln/>
        </p:spPr>
      </p:sp>
      <p:sp>
        <p:nvSpPr>
          <p:cNvPr id="8" name="Text 6"/>
          <p:cNvSpPr/>
          <p:nvPr/>
        </p:nvSpPr>
        <p:spPr>
          <a:xfrm>
            <a:off x="1143000" y="1524000"/>
            <a:ext cx="2463850"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04 — LINES OF BUSINESS</a:t>
            </a:r>
            <a:endParaRPr lang="en-US" sz="1125" dirty="0"/>
          </a:p>
        </p:txBody>
      </p:sp>
      <p:sp>
        <p:nvSpPr>
          <p:cNvPr id="9" name="Text 7"/>
          <p:cNvSpPr/>
          <p:nvPr/>
        </p:nvSpPr>
        <p:spPr>
          <a:xfrm>
            <a:off x="1143000" y="1847850"/>
            <a:ext cx="6056977"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131316"/>
                </a:solidFill>
                <a:latin typeface="Arial" pitchFamily="34" charset="0"/>
                <a:ea typeface="Arial" pitchFamily="34" charset="-122"/>
                <a:cs typeface="Arial" pitchFamily="34" charset="-120"/>
              </a:rPr>
              <a:t>Segment performance</a:t>
            </a:r>
            <a:endParaRPr lang="en-US" sz="4650" dirty="0"/>
          </a:p>
        </p:txBody>
      </p:sp>
      <p:sp>
        <p:nvSpPr>
          <p:cNvPr id="10" name="Text 8"/>
          <p:cNvSpPr/>
          <p:nvPr/>
        </p:nvSpPr>
        <p:spPr>
          <a:xfrm>
            <a:off x="1143000" y="3143250"/>
            <a:ext cx="3771900"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SEGMENT</a:t>
            </a:r>
            <a:endParaRPr lang="en-US" sz="975" dirty="0"/>
          </a:p>
        </p:txBody>
      </p:sp>
      <p:sp>
        <p:nvSpPr>
          <p:cNvPr id="11" name="Text 9"/>
          <p:cNvSpPr/>
          <p:nvPr/>
        </p:nvSpPr>
        <p:spPr>
          <a:xfrm>
            <a:off x="4572000" y="3143250"/>
            <a:ext cx="9848850"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NET REVENUE ($M)</a:t>
            </a:r>
            <a:endParaRPr lang="en-US" sz="975" dirty="0"/>
          </a:p>
        </p:txBody>
      </p:sp>
      <p:sp>
        <p:nvSpPr>
          <p:cNvPr id="12" name="Text 10"/>
          <p:cNvSpPr/>
          <p:nvPr/>
        </p:nvSpPr>
        <p:spPr>
          <a:xfrm>
            <a:off x="13335000" y="3143250"/>
            <a:ext cx="2095500" cy="200025"/>
          </a:xfrm>
          <a:prstGeom prst="rect">
            <a:avLst/>
          </a:prstGeom>
          <a:noFill/>
          <a:ln/>
        </p:spPr>
        <p:txBody>
          <a:bodyPr wrap="square" lIns="25400" tIns="25400" rIns="25400" bIns="25400" rtlCol="0" anchor="t">
            <a:normAutofit/>
          </a:bodyPr>
          <a:lstStyle/>
          <a:p>
            <a:pPr algn="r" indent="0" marL="0">
              <a:buNone/>
            </a:pPr>
            <a:r>
              <a:rPr lang="en-US" sz="975" spc="176" kern="0" dirty="0">
                <a:solidFill>
                  <a:srgbClr val="8A8A86"/>
                </a:solidFill>
                <a:latin typeface="Arial" pitchFamily="34" charset="0"/>
                <a:ea typeface="Arial" pitchFamily="34" charset="-122"/>
                <a:cs typeface="Arial" pitchFamily="34" charset="-120"/>
              </a:rPr>
              <a:t>Q3 2026</a:t>
            </a:r>
            <a:endParaRPr lang="en-US" sz="975" dirty="0"/>
          </a:p>
        </p:txBody>
      </p:sp>
      <p:sp>
        <p:nvSpPr>
          <p:cNvPr id="13" name="Text 11"/>
          <p:cNvSpPr/>
          <p:nvPr/>
        </p:nvSpPr>
        <p:spPr>
          <a:xfrm>
            <a:off x="15259050" y="3143250"/>
            <a:ext cx="1885950" cy="200025"/>
          </a:xfrm>
          <a:prstGeom prst="rect">
            <a:avLst/>
          </a:prstGeom>
          <a:noFill/>
          <a:ln/>
        </p:spPr>
        <p:txBody>
          <a:bodyPr wrap="square" lIns="25400" tIns="25400" rIns="25400" bIns="25400" rtlCol="0" anchor="t">
            <a:normAutofit/>
          </a:bodyPr>
          <a:lstStyle/>
          <a:p>
            <a:pPr algn="r" indent="0" marL="0">
              <a:buNone/>
            </a:pPr>
            <a:r>
              <a:rPr lang="en-US" sz="975" spc="176" kern="0" dirty="0">
                <a:solidFill>
                  <a:srgbClr val="8A8A86"/>
                </a:solidFill>
                <a:latin typeface="Arial" pitchFamily="34" charset="0"/>
                <a:ea typeface="Arial" pitchFamily="34" charset="-122"/>
                <a:cs typeface="Arial" pitchFamily="34" charset="-120"/>
              </a:rPr>
              <a:t>YOY</a:t>
            </a:r>
            <a:endParaRPr lang="en-US" sz="975" dirty="0"/>
          </a:p>
        </p:txBody>
      </p:sp>
      <p:sp>
        <p:nvSpPr>
          <p:cNvPr id="14" name="Shape 12"/>
          <p:cNvSpPr/>
          <p:nvPr/>
        </p:nvSpPr>
        <p:spPr>
          <a:xfrm>
            <a:off x="1143000" y="3448050"/>
            <a:ext cx="16002000" cy="9525"/>
          </a:xfrm>
          <a:prstGeom prst="rect">
            <a:avLst/>
          </a:prstGeom>
          <a:solidFill>
            <a:srgbClr val="131316">
              <a:alpha val="20000"/>
            </a:srgbClr>
          </a:solidFill>
          <a:ln/>
        </p:spPr>
      </p:sp>
      <p:sp>
        <p:nvSpPr>
          <p:cNvPr id="15" name="Shape 13"/>
          <p:cNvSpPr/>
          <p:nvPr/>
        </p:nvSpPr>
        <p:spPr>
          <a:xfrm>
            <a:off x="1143000" y="4772025"/>
            <a:ext cx="16002000" cy="9525"/>
          </a:xfrm>
          <a:prstGeom prst="rect">
            <a:avLst/>
          </a:prstGeom>
          <a:solidFill>
            <a:srgbClr val="131316">
              <a:alpha val="12000"/>
            </a:srgbClr>
          </a:solidFill>
          <a:ln/>
        </p:spPr>
      </p:sp>
      <p:sp>
        <p:nvSpPr>
          <p:cNvPr id="16" name="Text 14"/>
          <p:cNvSpPr/>
          <p:nvPr/>
        </p:nvSpPr>
        <p:spPr>
          <a:xfrm>
            <a:off x="1143000" y="4100513"/>
            <a:ext cx="377190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Consumer Banking</a:t>
            </a:r>
            <a:endParaRPr lang="en-US" sz="2250" dirty="0"/>
          </a:p>
        </p:txBody>
      </p:sp>
      <p:sp>
        <p:nvSpPr>
          <p:cNvPr id="17" name="Shape 15"/>
          <p:cNvSpPr/>
          <p:nvPr/>
        </p:nvSpPr>
        <p:spPr>
          <a:xfrm>
            <a:off x="4572000" y="4129088"/>
            <a:ext cx="6686550" cy="247650"/>
          </a:xfrm>
          <a:prstGeom prst="rect">
            <a:avLst/>
          </a:prstGeom>
          <a:solidFill>
            <a:srgbClr val="8A8A86"/>
          </a:solidFill>
          <a:ln/>
        </p:spPr>
      </p:sp>
      <p:sp>
        <p:nvSpPr>
          <p:cNvPr id="18" name="Text 16"/>
          <p:cNvSpPr/>
          <p:nvPr/>
        </p:nvSpPr>
        <p:spPr>
          <a:xfrm>
            <a:off x="13335000" y="4043363"/>
            <a:ext cx="2095500" cy="457200"/>
          </a:xfrm>
          <a:prstGeom prst="rect">
            <a:avLst/>
          </a:prstGeom>
          <a:noFill/>
          <a:ln/>
        </p:spPr>
        <p:txBody>
          <a:bodyPr wrap="square" lIns="25400" tIns="25400" rIns="25400" bIns="25400" rtlCol="0" anchor="t">
            <a:normAutofit/>
          </a:bodyPr>
          <a:lstStyle/>
          <a:p>
            <a:pPr algn="r" indent="0" marL="0">
              <a:buNone/>
            </a:pPr>
            <a:r>
              <a:rPr lang="en-US" sz="2550" dirty="0">
                <a:solidFill>
                  <a:srgbClr val="131316"/>
                </a:solidFill>
                <a:latin typeface="Arial" pitchFamily="34" charset="0"/>
                <a:ea typeface="Arial" pitchFamily="34" charset="-122"/>
                <a:cs typeface="Arial" pitchFamily="34" charset="-120"/>
              </a:rPr>
              <a:t>612</a:t>
            </a:r>
            <a:endParaRPr lang="en-US" sz="2550" dirty="0"/>
          </a:p>
        </p:txBody>
      </p:sp>
      <p:sp>
        <p:nvSpPr>
          <p:cNvPr id="19" name="Text 17"/>
          <p:cNvSpPr/>
          <p:nvPr/>
        </p:nvSpPr>
        <p:spPr>
          <a:xfrm>
            <a:off x="15259050" y="4100513"/>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3756A"/>
                </a:solidFill>
                <a:latin typeface="Arial" pitchFamily="34" charset="0"/>
                <a:ea typeface="Arial" pitchFamily="34" charset="-122"/>
                <a:cs typeface="Arial" pitchFamily="34" charset="-120"/>
              </a:rPr>
              <a:t>+6.4%</a:t>
            </a:r>
            <a:endParaRPr lang="en-US" sz="1800" dirty="0"/>
          </a:p>
        </p:txBody>
      </p:sp>
      <p:sp>
        <p:nvSpPr>
          <p:cNvPr id="20" name="Shape 18"/>
          <p:cNvSpPr/>
          <p:nvPr/>
        </p:nvSpPr>
        <p:spPr>
          <a:xfrm>
            <a:off x="1143000" y="5819775"/>
            <a:ext cx="16002000" cy="9525"/>
          </a:xfrm>
          <a:prstGeom prst="rect">
            <a:avLst/>
          </a:prstGeom>
          <a:solidFill>
            <a:srgbClr val="131316">
              <a:alpha val="12000"/>
            </a:srgbClr>
          </a:solidFill>
          <a:ln/>
        </p:spPr>
      </p:sp>
      <p:sp>
        <p:nvSpPr>
          <p:cNvPr id="21" name="Text 19"/>
          <p:cNvSpPr/>
          <p:nvPr/>
        </p:nvSpPr>
        <p:spPr>
          <a:xfrm>
            <a:off x="1143000" y="5148263"/>
            <a:ext cx="377190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Commercial Banking</a:t>
            </a:r>
            <a:endParaRPr lang="en-US" sz="2250" dirty="0"/>
          </a:p>
        </p:txBody>
      </p:sp>
      <p:sp>
        <p:nvSpPr>
          <p:cNvPr id="22" name="Shape 20"/>
          <p:cNvSpPr/>
          <p:nvPr/>
        </p:nvSpPr>
        <p:spPr>
          <a:xfrm>
            <a:off x="4572000" y="5176838"/>
            <a:ext cx="4800600" cy="247650"/>
          </a:xfrm>
          <a:prstGeom prst="rect">
            <a:avLst/>
          </a:prstGeom>
          <a:solidFill>
            <a:srgbClr val="8A8A86"/>
          </a:solidFill>
          <a:ln/>
        </p:spPr>
      </p:sp>
      <p:sp>
        <p:nvSpPr>
          <p:cNvPr id="23" name="Text 21"/>
          <p:cNvSpPr/>
          <p:nvPr/>
        </p:nvSpPr>
        <p:spPr>
          <a:xfrm>
            <a:off x="13335000" y="5091113"/>
            <a:ext cx="2095500" cy="457200"/>
          </a:xfrm>
          <a:prstGeom prst="rect">
            <a:avLst/>
          </a:prstGeom>
          <a:noFill/>
          <a:ln/>
        </p:spPr>
        <p:txBody>
          <a:bodyPr wrap="square" lIns="25400" tIns="25400" rIns="25400" bIns="25400" rtlCol="0" anchor="t">
            <a:normAutofit/>
          </a:bodyPr>
          <a:lstStyle/>
          <a:p>
            <a:pPr algn="r" indent="0" marL="0">
              <a:buNone/>
            </a:pPr>
            <a:r>
              <a:rPr lang="en-US" sz="2550" dirty="0">
                <a:solidFill>
                  <a:srgbClr val="131316"/>
                </a:solidFill>
                <a:latin typeface="Arial" pitchFamily="34" charset="0"/>
                <a:ea typeface="Arial" pitchFamily="34" charset="-122"/>
                <a:cs typeface="Arial" pitchFamily="34" charset="-120"/>
              </a:rPr>
              <a:t>438</a:t>
            </a:r>
            <a:endParaRPr lang="en-US" sz="2550" dirty="0"/>
          </a:p>
        </p:txBody>
      </p:sp>
      <p:sp>
        <p:nvSpPr>
          <p:cNvPr id="24" name="Text 22"/>
          <p:cNvSpPr/>
          <p:nvPr/>
        </p:nvSpPr>
        <p:spPr>
          <a:xfrm>
            <a:off x="15259050" y="5148263"/>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3756A"/>
                </a:solidFill>
                <a:latin typeface="Arial" pitchFamily="34" charset="0"/>
                <a:ea typeface="Arial" pitchFamily="34" charset="-122"/>
                <a:cs typeface="Arial" pitchFamily="34" charset="-120"/>
              </a:rPr>
              <a:t>+9.1%</a:t>
            </a:r>
            <a:endParaRPr lang="en-US" sz="1800" dirty="0"/>
          </a:p>
        </p:txBody>
      </p:sp>
      <p:sp>
        <p:nvSpPr>
          <p:cNvPr id="25" name="Shape 23"/>
          <p:cNvSpPr/>
          <p:nvPr/>
        </p:nvSpPr>
        <p:spPr>
          <a:xfrm>
            <a:off x="1143000" y="6867525"/>
            <a:ext cx="16002000" cy="9525"/>
          </a:xfrm>
          <a:prstGeom prst="rect">
            <a:avLst/>
          </a:prstGeom>
          <a:solidFill>
            <a:srgbClr val="131316">
              <a:alpha val="12000"/>
            </a:srgbClr>
          </a:solidFill>
          <a:ln/>
        </p:spPr>
      </p:sp>
      <p:sp>
        <p:nvSpPr>
          <p:cNvPr id="26" name="Text 24"/>
          <p:cNvSpPr/>
          <p:nvPr/>
        </p:nvSpPr>
        <p:spPr>
          <a:xfrm>
            <a:off x="1143000" y="6196013"/>
            <a:ext cx="377190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Wealth Management</a:t>
            </a:r>
            <a:endParaRPr lang="en-US" sz="2250" dirty="0"/>
          </a:p>
        </p:txBody>
      </p:sp>
      <p:sp>
        <p:nvSpPr>
          <p:cNvPr id="27" name="Shape 25"/>
          <p:cNvSpPr/>
          <p:nvPr/>
        </p:nvSpPr>
        <p:spPr>
          <a:xfrm>
            <a:off x="4572000" y="6224588"/>
            <a:ext cx="2657475" cy="247650"/>
          </a:xfrm>
          <a:prstGeom prst="rect">
            <a:avLst/>
          </a:prstGeom>
          <a:solidFill>
            <a:srgbClr val="FF4A1C"/>
          </a:solidFill>
          <a:ln/>
        </p:spPr>
      </p:sp>
      <p:sp>
        <p:nvSpPr>
          <p:cNvPr id="28" name="Text 26"/>
          <p:cNvSpPr/>
          <p:nvPr/>
        </p:nvSpPr>
        <p:spPr>
          <a:xfrm>
            <a:off x="13335000" y="6138863"/>
            <a:ext cx="2095500" cy="457200"/>
          </a:xfrm>
          <a:prstGeom prst="rect">
            <a:avLst/>
          </a:prstGeom>
          <a:noFill/>
          <a:ln/>
        </p:spPr>
        <p:txBody>
          <a:bodyPr wrap="square" lIns="25400" tIns="25400" rIns="25400" bIns="25400" rtlCol="0" anchor="t">
            <a:normAutofit/>
          </a:bodyPr>
          <a:lstStyle/>
          <a:p>
            <a:pPr algn="r" indent="0" marL="0">
              <a:buNone/>
            </a:pPr>
            <a:r>
              <a:rPr lang="en-US" sz="2550" dirty="0">
                <a:solidFill>
                  <a:srgbClr val="131316"/>
                </a:solidFill>
                <a:latin typeface="Arial" pitchFamily="34" charset="0"/>
                <a:ea typeface="Arial" pitchFamily="34" charset="-122"/>
                <a:cs typeface="Arial" pitchFamily="34" charset="-120"/>
              </a:rPr>
              <a:t>244</a:t>
            </a:r>
            <a:endParaRPr lang="en-US" sz="2550" dirty="0"/>
          </a:p>
        </p:txBody>
      </p:sp>
      <p:sp>
        <p:nvSpPr>
          <p:cNvPr id="29" name="Text 27"/>
          <p:cNvSpPr/>
          <p:nvPr/>
        </p:nvSpPr>
        <p:spPr>
          <a:xfrm>
            <a:off x="15259050" y="6215063"/>
            <a:ext cx="1885950" cy="304800"/>
          </a:xfrm>
          <a:prstGeom prst="rect">
            <a:avLst/>
          </a:prstGeom>
          <a:noFill/>
          <a:ln/>
        </p:spPr>
        <p:txBody>
          <a:bodyPr wrap="square" lIns="25400" tIns="25400" rIns="25400" bIns="25400" rtlCol="0" anchor="t">
            <a:normAutofit/>
          </a:bodyPr>
          <a:lstStyle/>
          <a:p>
            <a:pPr algn="r" indent="0" marL="0">
              <a:buNone/>
            </a:pPr>
            <a:r>
              <a:rPr lang="en-US" sz="1800" b="1" dirty="0">
                <a:solidFill>
                  <a:srgbClr val="FF4A1C"/>
                </a:solidFill>
                <a:latin typeface="Arial" pitchFamily="34" charset="0"/>
                <a:ea typeface="Arial" pitchFamily="34" charset="-122"/>
                <a:cs typeface="Arial" pitchFamily="34" charset="-120"/>
              </a:rPr>
              <a:t>+12.7%</a:t>
            </a:r>
            <a:endParaRPr lang="en-US" sz="1800" dirty="0"/>
          </a:p>
        </p:txBody>
      </p:sp>
      <p:sp>
        <p:nvSpPr>
          <p:cNvPr id="30" name="Shape 28"/>
          <p:cNvSpPr/>
          <p:nvPr/>
        </p:nvSpPr>
        <p:spPr>
          <a:xfrm>
            <a:off x="1143000" y="7915275"/>
            <a:ext cx="16002000" cy="9525"/>
          </a:xfrm>
          <a:prstGeom prst="rect">
            <a:avLst/>
          </a:prstGeom>
          <a:solidFill>
            <a:srgbClr val="131316">
              <a:alpha val="12000"/>
            </a:srgbClr>
          </a:solidFill>
          <a:ln/>
        </p:spPr>
      </p:sp>
      <p:sp>
        <p:nvSpPr>
          <p:cNvPr id="31" name="Text 29"/>
          <p:cNvSpPr/>
          <p:nvPr/>
        </p:nvSpPr>
        <p:spPr>
          <a:xfrm>
            <a:off x="1143000" y="7243763"/>
            <a:ext cx="377190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Capital Markets</a:t>
            </a:r>
            <a:endParaRPr lang="en-US" sz="2250" dirty="0"/>
          </a:p>
        </p:txBody>
      </p:sp>
      <p:sp>
        <p:nvSpPr>
          <p:cNvPr id="32" name="Shape 30"/>
          <p:cNvSpPr/>
          <p:nvPr/>
        </p:nvSpPr>
        <p:spPr>
          <a:xfrm>
            <a:off x="4572000" y="7272338"/>
            <a:ext cx="1200150" cy="247650"/>
          </a:xfrm>
          <a:prstGeom prst="rect">
            <a:avLst/>
          </a:prstGeom>
          <a:solidFill>
            <a:srgbClr val="8A8A86"/>
          </a:solidFill>
          <a:ln/>
        </p:spPr>
      </p:sp>
      <p:sp>
        <p:nvSpPr>
          <p:cNvPr id="33" name="Text 31"/>
          <p:cNvSpPr/>
          <p:nvPr/>
        </p:nvSpPr>
        <p:spPr>
          <a:xfrm>
            <a:off x="13335000" y="7186613"/>
            <a:ext cx="2095500" cy="457200"/>
          </a:xfrm>
          <a:prstGeom prst="rect">
            <a:avLst/>
          </a:prstGeom>
          <a:noFill/>
          <a:ln/>
        </p:spPr>
        <p:txBody>
          <a:bodyPr wrap="square" lIns="25400" tIns="25400" rIns="25400" bIns="25400" rtlCol="0" anchor="t">
            <a:normAutofit/>
          </a:bodyPr>
          <a:lstStyle/>
          <a:p>
            <a:pPr algn="r" indent="0" marL="0">
              <a:buNone/>
            </a:pPr>
            <a:r>
              <a:rPr lang="en-US" sz="2550" dirty="0">
                <a:solidFill>
                  <a:srgbClr val="131316"/>
                </a:solidFill>
                <a:latin typeface="Arial" pitchFamily="34" charset="0"/>
                <a:ea typeface="Arial" pitchFamily="34" charset="-122"/>
                <a:cs typeface="Arial" pitchFamily="34" charset="-120"/>
              </a:rPr>
              <a:t>108</a:t>
            </a:r>
            <a:endParaRPr lang="en-US" sz="2550" dirty="0"/>
          </a:p>
        </p:txBody>
      </p:sp>
      <p:sp>
        <p:nvSpPr>
          <p:cNvPr id="34" name="Text 32"/>
          <p:cNvSpPr/>
          <p:nvPr/>
        </p:nvSpPr>
        <p:spPr>
          <a:xfrm>
            <a:off x="15259050" y="7243763"/>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3756A"/>
                </a:solidFill>
                <a:latin typeface="Arial" pitchFamily="34" charset="0"/>
                <a:ea typeface="Arial" pitchFamily="34" charset="-122"/>
                <a:cs typeface="Arial" pitchFamily="34" charset="-120"/>
              </a:rPr>
              <a:t>+3.2%</a:t>
            </a:r>
            <a:endParaRPr lang="en-US" sz="1800" dirty="0"/>
          </a:p>
        </p:txBody>
      </p:sp>
      <p:sp>
        <p:nvSpPr>
          <p:cNvPr id="35" name="Text 33"/>
          <p:cNvSpPr/>
          <p:nvPr/>
        </p:nvSpPr>
        <p:spPr>
          <a:xfrm>
            <a:off x="1143000" y="8243888"/>
            <a:ext cx="3771900" cy="20002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8A8A86"/>
                </a:solidFill>
                <a:latin typeface="Arial" pitchFamily="34" charset="0"/>
                <a:ea typeface="Arial" pitchFamily="34" charset="-122"/>
                <a:cs typeface="Arial" pitchFamily="34" charset="-120"/>
              </a:rPr>
              <a:t>TOTAL NET REVENUE</a:t>
            </a:r>
            <a:endParaRPr lang="en-US" sz="1125" dirty="0"/>
          </a:p>
        </p:txBody>
      </p:sp>
      <p:sp>
        <p:nvSpPr>
          <p:cNvPr id="36" name="Text 34"/>
          <p:cNvSpPr/>
          <p:nvPr/>
        </p:nvSpPr>
        <p:spPr>
          <a:xfrm>
            <a:off x="13335000" y="8120063"/>
            <a:ext cx="2095500" cy="447675"/>
          </a:xfrm>
          <a:prstGeom prst="rect">
            <a:avLst/>
          </a:prstGeom>
          <a:noFill/>
          <a:ln/>
        </p:spPr>
        <p:txBody>
          <a:bodyPr wrap="square" lIns="25400" tIns="25400" rIns="25400" bIns="25400" rtlCol="0" anchor="t">
            <a:normAutofit/>
          </a:bodyPr>
          <a:lstStyle/>
          <a:p>
            <a:pPr algn="r" indent="0" marL="0">
              <a:buNone/>
            </a:pPr>
            <a:r>
              <a:rPr lang="en-US" sz="2850" b="1" dirty="0">
                <a:solidFill>
                  <a:srgbClr val="131316"/>
                </a:solidFill>
                <a:latin typeface="Arial" pitchFamily="34" charset="0"/>
                <a:ea typeface="Arial" pitchFamily="34" charset="-122"/>
                <a:cs typeface="Arial" pitchFamily="34" charset="-120"/>
              </a:rPr>
              <a:t>1,402</a:t>
            </a:r>
            <a:endParaRPr lang="en-US" sz="2850" dirty="0"/>
          </a:p>
        </p:txBody>
      </p:sp>
      <p:sp>
        <p:nvSpPr>
          <p:cNvPr id="37" name="Text 35"/>
          <p:cNvSpPr/>
          <p:nvPr/>
        </p:nvSpPr>
        <p:spPr>
          <a:xfrm>
            <a:off x="15259050" y="8172450"/>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3756A"/>
                </a:solidFill>
                <a:latin typeface="Arial" pitchFamily="34" charset="0"/>
                <a:ea typeface="Arial" pitchFamily="34" charset="-122"/>
                <a:cs typeface="Arial" pitchFamily="34" charset="-120"/>
              </a:rPr>
              <a:t>+8.6%</a:t>
            </a:r>
            <a:endParaRPr lang="en-US" sz="1800" dirty="0"/>
          </a:p>
        </p:txBody>
      </p:sp>
      <p:sp>
        <p:nvSpPr>
          <p:cNvPr id="38" name="Text 36"/>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Q3 2026 EARNINGS</a:t>
            </a:r>
            <a:endParaRPr lang="en-US" sz="900" dirty="0"/>
          </a:p>
        </p:txBody>
      </p:sp>
      <p:sp>
        <p:nvSpPr>
          <p:cNvPr id="39" name="Text 37"/>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04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316"/>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F6F4EF"/>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F6F4EF"/>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915567" cy="361950"/>
          </a:xfrm>
          <a:prstGeom prst="roundRect">
            <a:avLst>
              <a:gd name="adj" fmla="val 50000"/>
            </a:avLst>
          </a:prstGeom>
          <a:ln w="9525">
            <a:solidFill>
              <a:srgbClr val="F6F4EF">
                <a:alpha val="30000"/>
              </a:srgbClr>
            </a:solidFill>
            <a:prstDash val="solid"/>
          </a:ln>
        </p:spPr>
      </p:sp>
      <p:sp>
        <p:nvSpPr>
          <p:cNvPr id="5" name="Text 3"/>
          <p:cNvSpPr/>
          <p:nvPr/>
        </p:nvSpPr>
        <p:spPr>
          <a:xfrm>
            <a:off x="3124200" y="523875"/>
            <a:ext cx="1686967"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C9C7C0"/>
                </a:solidFill>
                <a:latin typeface="Arial" pitchFamily="34" charset="0"/>
                <a:ea typeface="Arial" pitchFamily="34" charset="-122"/>
                <a:cs typeface="Arial" pitchFamily="34" charset="-120"/>
              </a:rPr>
              <a:t>MARGIN &amp; EFFICIENCY</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9A9A9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F6F4EF">
              <a:alpha val="18000"/>
            </a:srgbClr>
          </a:solidFill>
          <a:ln/>
        </p:spPr>
      </p:sp>
      <p:sp>
        <p:nvSpPr>
          <p:cNvPr id="8" name="Text 6"/>
          <p:cNvSpPr/>
          <p:nvPr/>
        </p:nvSpPr>
        <p:spPr>
          <a:xfrm>
            <a:off x="1143000" y="1524000"/>
            <a:ext cx="2020029"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05 — PROFITABILITY</a:t>
            </a:r>
            <a:endParaRPr lang="en-US" sz="1125" dirty="0"/>
          </a:p>
        </p:txBody>
      </p:sp>
      <p:sp>
        <p:nvSpPr>
          <p:cNvPr id="9" name="Text 7"/>
          <p:cNvSpPr/>
          <p:nvPr/>
        </p:nvSpPr>
        <p:spPr>
          <a:xfrm>
            <a:off x="1143000" y="1847850"/>
            <a:ext cx="8354497"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F6F4EF"/>
                </a:solidFill>
                <a:latin typeface="Arial" pitchFamily="34" charset="0"/>
                <a:ea typeface="Arial" pitchFamily="34" charset="-122"/>
                <a:cs typeface="Arial" pitchFamily="34" charset="-120"/>
              </a:rPr>
              <a:t>Net interest margin &amp; efficiency</a:t>
            </a:r>
            <a:endParaRPr lang="en-US" sz="4650" dirty="0"/>
          </a:p>
        </p:txBody>
      </p:sp>
      <p:sp>
        <p:nvSpPr>
          <p:cNvPr id="10" name="Text 8"/>
          <p:cNvSpPr/>
          <p:nvPr/>
        </p:nvSpPr>
        <p:spPr>
          <a:xfrm>
            <a:off x="1143000" y="3505200"/>
            <a:ext cx="4505325" cy="1162050"/>
          </a:xfrm>
          <a:prstGeom prst="rect">
            <a:avLst/>
          </a:prstGeom>
          <a:noFill/>
          <a:ln/>
        </p:spPr>
        <p:txBody>
          <a:bodyPr wrap="square" lIns="25400" tIns="25400" rIns="25400" bIns="25400" rtlCol="0" anchor="t">
            <a:normAutofit/>
          </a:bodyPr>
          <a:lstStyle/>
          <a:p>
            <a:pPr algn="l" indent="0" marL="0">
              <a:lnSpc>
                <a:spcPct val="100000"/>
              </a:lnSpc>
              <a:buNone/>
            </a:pPr>
            <a:r>
              <a:rPr lang="en-US" sz="8850" b="1" spc="-265" kern="0" dirty="0">
                <a:solidFill>
                  <a:srgbClr val="FF4A1C"/>
                </a:solidFill>
                <a:latin typeface="Arial" pitchFamily="34" charset="0"/>
                <a:ea typeface="Arial" pitchFamily="34" charset="-122"/>
                <a:cs typeface="Arial" pitchFamily="34" charset="-120"/>
              </a:rPr>
              <a:t>3.12</a:t>
            </a:r>
            <a:pPr algn="l" indent="0" marL="0">
              <a:lnSpc>
                <a:spcPct val="100000"/>
              </a:lnSpc>
              <a:buNone/>
            </a:pPr>
            <a:r>
              <a:rPr lang="en-US" sz="4050" b="1" spc="-265" kern="0" dirty="0">
                <a:solidFill>
                  <a:srgbClr val="FF4A1C"/>
                </a:solidFill>
                <a:latin typeface="Arial" pitchFamily="34" charset="0"/>
                <a:ea typeface="Arial" pitchFamily="34" charset="-122"/>
                <a:cs typeface="Arial" pitchFamily="34" charset="-120"/>
              </a:rPr>
              <a:t>%</a:t>
            </a:r>
            <a:endParaRPr lang="en-US" sz="8850" dirty="0"/>
          </a:p>
        </p:txBody>
      </p:sp>
      <p:sp>
        <p:nvSpPr>
          <p:cNvPr id="11" name="Text 9"/>
          <p:cNvSpPr/>
          <p:nvPr/>
        </p:nvSpPr>
        <p:spPr>
          <a:xfrm>
            <a:off x="1143000" y="4819650"/>
            <a:ext cx="4505325"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NET INTEREST MARGIN</a:t>
            </a:r>
            <a:endParaRPr lang="en-US" sz="1050" dirty="0"/>
          </a:p>
        </p:txBody>
      </p:sp>
      <p:sp>
        <p:nvSpPr>
          <p:cNvPr id="12" name="Text 10"/>
          <p:cNvSpPr/>
          <p:nvPr/>
        </p:nvSpPr>
        <p:spPr>
          <a:xfrm>
            <a:off x="1143000" y="5067300"/>
            <a:ext cx="450532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C9C7C0"/>
                </a:solidFill>
                <a:latin typeface="Arial" pitchFamily="34" charset="0"/>
                <a:ea typeface="Arial" pitchFamily="34" charset="-122"/>
                <a:cs typeface="Arial" pitchFamily="34" charset="-120"/>
              </a:rPr>
              <a:t>+20 bps YoY · +4 bps QoQ</a:t>
            </a:r>
            <a:endParaRPr lang="en-US" sz="1425" dirty="0"/>
          </a:p>
        </p:txBody>
      </p:sp>
      <p:sp>
        <p:nvSpPr>
          <p:cNvPr id="13" name="Shape 11"/>
          <p:cNvSpPr/>
          <p:nvPr/>
        </p:nvSpPr>
        <p:spPr>
          <a:xfrm>
            <a:off x="1143000" y="5676900"/>
            <a:ext cx="4095750" cy="9525"/>
          </a:xfrm>
          <a:prstGeom prst="rect">
            <a:avLst/>
          </a:prstGeom>
          <a:solidFill>
            <a:srgbClr val="F6F4EF">
              <a:alpha val="14000"/>
            </a:srgbClr>
          </a:solidFill>
          <a:ln/>
        </p:spPr>
      </p:sp>
      <p:sp>
        <p:nvSpPr>
          <p:cNvPr id="14" name="Text 12"/>
          <p:cNvSpPr/>
          <p:nvPr/>
        </p:nvSpPr>
        <p:spPr>
          <a:xfrm>
            <a:off x="1143000" y="6067425"/>
            <a:ext cx="4505325" cy="1162050"/>
          </a:xfrm>
          <a:prstGeom prst="rect">
            <a:avLst/>
          </a:prstGeom>
          <a:noFill/>
          <a:ln/>
        </p:spPr>
        <p:txBody>
          <a:bodyPr wrap="square" lIns="25400" tIns="25400" rIns="25400" bIns="25400" rtlCol="0" anchor="t">
            <a:normAutofit/>
          </a:bodyPr>
          <a:lstStyle/>
          <a:p>
            <a:pPr algn="l" indent="0" marL="0">
              <a:lnSpc>
                <a:spcPct val="100000"/>
              </a:lnSpc>
              <a:buNone/>
            </a:pPr>
            <a:r>
              <a:rPr lang="en-US" sz="8850" b="1" spc="-265" kern="0" dirty="0">
                <a:solidFill>
                  <a:srgbClr val="F6F4EF"/>
                </a:solidFill>
                <a:latin typeface="Arial" pitchFamily="34" charset="0"/>
                <a:ea typeface="Arial" pitchFamily="34" charset="-122"/>
                <a:cs typeface="Arial" pitchFamily="34" charset="-120"/>
              </a:rPr>
              <a:t>54.8</a:t>
            </a:r>
            <a:pPr algn="l" indent="0" marL="0">
              <a:lnSpc>
                <a:spcPct val="100000"/>
              </a:lnSpc>
              <a:buNone/>
            </a:pPr>
            <a:r>
              <a:rPr lang="en-US" sz="4050" b="1" spc="-265" kern="0" dirty="0">
                <a:solidFill>
                  <a:srgbClr val="F6F4EF"/>
                </a:solidFill>
                <a:latin typeface="Arial" pitchFamily="34" charset="0"/>
                <a:ea typeface="Arial" pitchFamily="34" charset="-122"/>
                <a:cs typeface="Arial" pitchFamily="34" charset="-120"/>
              </a:rPr>
              <a:t>%</a:t>
            </a:r>
            <a:endParaRPr lang="en-US" sz="8850" dirty="0"/>
          </a:p>
        </p:txBody>
      </p:sp>
      <p:sp>
        <p:nvSpPr>
          <p:cNvPr id="15" name="Text 13"/>
          <p:cNvSpPr/>
          <p:nvPr/>
        </p:nvSpPr>
        <p:spPr>
          <a:xfrm>
            <a:off x="1143000" y="7381875"/>
            <a:ext cx="4505325"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EFFICIENCY RATIO</a:t>
            </a:r>
            <a:endParaRPr lang="en-US" sz="1050" dirty="0"/>
          </a:p>
        </p:txBody>
      </p:sp>
      <p:sp>
        <p:nvSpPr>
          <p:cNvPr id="16" name="Text 14"/>
          <p:cNvSpPr/>
          <p:nvPr/>
        </p:nvSpPr>
        <p:spPr>
          <a:xfrm>
            <a:off x="1143000" y="7629525"/>
            <a:ext cx="450532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C9C7C0"/>
                </a:solidFill>
                <a:latin typeface="Arial" pitchFamily="34" charset="0"/>
                <a:ea typeface="Arial" pitchFamily="34" charset="-122"/>
                <a:cs typeface="Arial" pitchFamily="34" charset="-120"/>
              </a:rPr>
              <a:t>improved from 56.9% a year ago</a:t>
            </a:r>
            <a:endParaRPr lang="en-US" sz="1425" dirty="0"/>
          </a:p>
        </p:txBody>
      </p:sp>
      <p:sp>
        <p:nvSpPr>
          <p:cNvPr id="17" name="Text 15"/>
          <p:cNvSpPr/>
          <p:nvPr/>
        </p:nvSpPr>
        <p:spPr>
          <a:xfrm>
            <a:off x="6286500" y="3619500"/>
            <a:ext cx="11944350"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9A9A96"/>
                </a:solidFill>
                <a:latin typeface="Arial" pitchFamily="34" charset="0"/>
                <a:ea typeface="Arial" pitchFamily="34" charset="-122"/>
                <a:cs typeface="Arial" pitchFamily="34" charset="-120"/>
              </a:rPr>
              <a:t>NET INTEREST MARGIN (%) · TRAILING SIX QUARTERS</a:t>
            </a:r>
            <a:endParaRPr lang="en-US" sz="975"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86500" y="3876675"/>
            <a:ext cx="10858500" cy="4210348"/>
          </a:xfrm>
          <a:prstGeom prst="rect">
            <a:avLst/>
          </a:prstGeom>
        </p:spPr>
      </p:pic>
      <p:sp>
        <p:nvSpPr>
          <p:cNvPr id="19" name="Text 16"/>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Q3 2026 EARNINGS</a:t>
            </a:r>
            <a:endParaRPr lang="en-US" sz="900" dirty="0"/>
          </a:p>
        </p:txBody>
      </p:sp>
      <p:sp>
        <p:nvSpPr>
          <p:cNvPr id="20" name="Text 17"/>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05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131316"/>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131316"/>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443038" cy="361950"/>
          </a:xfrm>
          <a:prstGeom prst="roundRect">
            <a:avLst>
              <a:gd name="adj" fmla="val 50000"/>
            </a:avLst>
          </a:prstGeom>
          <a:ln w="9525">
            <a:solidFill>
              <a:srgbClr val="131316">
                <a:alpha val="28000"/>
              </a:srgbClr>
            </a:solidFill>
            <a:prstDash val="solid"/>
          </a:ln>
        </p:spPr>
      </p:sp>
      <p:sp>
        <p:nvSpPr>
          <p:cNvPr id="5" name="Text 3"/>
          <p:cNvSpPr/>
          <p:nvPr/>
        </p:nvSpPr>
        <p:spPr>
          <a:xfrm>
            <a:off x="3124200" y="523875"/>
            <a:ext cx="1214438"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5B5B58"/>
                </a:solidFill>
                <a:latin typeface="Arial" pitchFamily="34" charset="0"/>
                <a:ea typeface="Arial" pitchFamily="34" charset="-122"/>
                <a:cs typeface="Arial" pitchFamily="34" charset="-120"/>
              </a:rPr>
              <a:t>BALANCE SHEET</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131316">
              <a:alpha val="16000"/>
            </a:srgbClr>
          </a:solidFill>
          <a:ln/>
        </p:spPr>
      </p:sp>
      <p:sp>
        <p:nvSpPr>
          <p:cNvPr id="8" name="Text 6"/>
          <p:cNvSpPr/>
          <p:nvPr/>
        </p:nvSpPr>
        <p:spPr>
          <a:xfrm>
            <a:off x="1143000" y="1524000"/>
            <a:ext cx="2836128"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06 — STRENGTH &amp; LIQUIDITY</a:t>
            </a:r>
            <a:endParaRPr lang="en-US" sz="1125" dirty="0"/>
          </a:p>
        </p:txBody>
      </p:sp>
      <p:sp>
        <p:nvSpPr>
          <p:cNvPr id="9" name="Text 7"/>
          <p:cNvSpPr/>
          <p:nvPr/>
        </p:nvSpPr>
        <p:spPr>
          <a:xfrm>
            <a:off x="1143000" y="1847850"/>
            <a:ext cx="6251957"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131316"/>
                </a:solidFill>
                <a:latin typeface="Arial" pitchFamily="34" charset="0"/>
                <a:ea typeface="Arial" pitchFamily="34" charset="-122"/>
                <a:cs typeface="Arial" pitchFamily="34" charset="-120"/>
              </a:rPr>
              <a:t>Balance-sheet strength</a:t>
            </a:r>
            <a:endParaRPr lang="en-US" sz="4650" dirty="0"/>
          </a:p>
        </p:txBody>
      </p:sp>
      <p:sp>
        <p:nvSpPr>
          <p:cNvPr id="10" name="Text 8"/>
          <p:cNvSpPr/>
          <p:nvPr/>
        </p:nvSpPr>
        <p:spPr>
          <a:xfrm>
            <a:off x="1143000" y="3619500"/>
            <a:ext cx="6496050" cy="1790700"/>
          </a:xfrm>
          <a:prstGeom prst="rect">
            <a:avLst/>
          </a:prstGeom>
          <a:noFill/>
          <a:ln/>
        </p:spPr>
        <p:txBody>
          <a:bodyPr wrap="square" lIns="25400" tIns="25400" rIns="25400" bIns="25400" rtlCol="0" anchor="t">
            <a:normAutofit/>
          </a:bodyPr>
          <a:lstStyle/>
          <a:p>
            <a:pPr algn="l" indent="0" marL="0">
              <a:lnSpc>
                <a:spcPct val="92000"/>
              </a:lnSpc>
              <a:buNone/>
            </a:pPr>
            <a:r>
              <a:rPr lang="en-US" sz="15000" b="1" spc="-600" kern="0" dirty="0">
                <a:solidFill>
                  <a:srgbClr val="FF4A1C"/>
                </a:solidFill>
                <a:latin typeface="Arial" pitchFamily="34" charset="0"/>
                <a:ea typeface="Arial" pitchFamily="34" charset="-122"/>
                <a:cs typeface="Arial" pitchFamily="34" charset="-120"/>
              </a:rPr>
              <a:t>12.4</a:t>
            </a:r>
            <a:pPr algn="l" indent="0" marL="0">
              <a:lnSpc>
                <a:spcPct val="92000"/>
              </a:lnSpc>
              <a:buNone/>
            </a:pPr>
            <a:r>
              <a:rPr lang="en-US" sz="6300" b="1" spc="-600" kern="0" dirty="0">
                <a:solidFill>
                  <a:srgbClr val="FF4A1C"/>
                </a:solidFill>
                <a:latin typeface="Arial" pitchFamily="34" charset="0"/>
                <a:ea typeface="Arial" pitchFamily="34" charset="-122"/>
                <a:cs typeface="Arial" pitchFamily="34" charset="-120"/>
              </a:rPr>
              <a:t>%</a:t>
            </a:r>
            <a:endParaRPr lang="en-US" sz="15000" dirty="0"/>
          </a:p>
        </p:txBody>
      </p:sp>
      <p:sp>
        <p:nvSpPr>
          <p:cNvPr id="11" name="Text 9"/>
          <p:cNvSpPr/>
          <p:nvPr/>
        </p:nvSpPr>
        <p:spPr>
          <a:xfrm>
            <a:off x="1143000" y="5638800"/>
            <a:ext cx="6496050"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8A8A86"/>
                </a:solidFill>
                <a:latin typeface="Arial" pitchFamily="34" charset="0"/>
                <a:ea typeface="Arial" pitchFamily="34" charset="-122"/>
                <a:cs typeface="Arial" pitchFamily="34" charset="-120"/>
              </a:rPr>
              <a:t>COMMON EQUITY TIER 1 RATIO</a:t>
            </a:r>
            <a:endParaRPr lang="en-US" sz="1125" dirty="0"/>
          </a:p>
        </p:txBody>
      </p:sp>
      <p:sp>
        <p:nvSpPr>
          <p:cNvPr id="12" name="Text 10"/>
          <p:cNvSpPr/>
          <p:nvPr/>
        </p:nvSpPr>
        <p:spPr>
          <a:xfrm>
            <a:off x="1143000" y="5953125"/>
            <a:ext cx="5101590"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C3C3A"/>
                </a:solidFill>
                <a:latin typeface="Arial" pitchFamily="34" charset="0"/>
                <a:ea typeface="Arial" pitchFamily="34" charset="-122"/>
                <a:cs typeface="Arial" pitchFamily="34" charset="-120"/>
              </a:rPr>
              <a:t>Comfortably above the 8.0% regulatory minimum, with a 240 bps buffer to our internal target.</a:t>
            </a:r>
            <a:endParaRPr lang="en-US" sz="1800" dirty="0"/>
          </a:p>
        </p:txBody>
      </p:sp>
      <p:sp>
        <p:nvSpPr>
          <p:cNvPr id="13" name="Shape 11"/>
          <p:cNvSpPr/>
          <p:nvPr/>
        </p:nvSpPr>
        <p:spPr>
          <a:xfrm>
            <a:off x="9906000" y="4505325"/>
            <a:ext cx="7239000" cy="9525"/>
          </a:xfrm>
          <a:prstGeom prst="rect">
            <a:avLst/>
          </a:prstGeom>
          <a:solidFill>
            <a:srgbClr val="131316">
              <a:alpha val="14000"/>
            </a:srgbClr>
          </a:solidFill>
          <a:ln/>
        </p:spPr>
      </p:sp>
      <p:sp>
        <p:nvSpPr>
          <p:cNvPr id="14" name="Text 12"/>
          <p:cNvSpPr/>
          <p:nvPr/>
        </p:nvSpPr>
        <p:spPr>
          <a:xfrm>
            <a:off x="9906000" y="3924300"/>
            <a:ext cx="1582757" cy="333375"/>
          </a:xfrm>
          <a:prstGeom prst="rect">
            <a:avLst/>
          </a:prstGeom>
          <a:noFill/>
          <a:ln/>
        </p:spPr>
        <p:txBody>
          <a:bodyPr wrap="square" lIns="25400" tIns="25400" rIns="25400" bIns="25400" rtlCol="0" anchor="t">
            <a:normAutofit/>
          </a:bodyPr>
          <a:lstStyle/>
          <a:p>
            <a:pPr algn="l" indent="0" marL="0">
              <a:buNone/>
            </a:pPr>
            <a:r>
              <a:rPr lang="en-US" sz="2100" dirty="0">
                <a:solidFill>
                  <a:srgbClr val="131316"/>
                </a:solidFill>
                <a:latin typeface="Arial" pitchFamily="34" charset="0"/>
                <a:ea typeface="Arial" pitchFamily="34" charset="-122"/>
                <a:cs typeface="Arial" pitchFamily="34" charset="-120"/>
              </a:rPr>
              <a:t>Total assets</a:t>
            </a:r>
            <a:endParaRPr lang="en-US" sz="2100" dirty="0"/>
          </a:p>
        </p:txBody>
      </p:sp>
      <p:sp>
        <p:nvSpPr>
          <p:cNvPr id="15" name="Text 13"/>
          <p:cNvSpPr/>
          <p:nvPr/>
        </p:nvSpPr>
        <p:spPr>
          <a:xfrm>
            <a:off x="15716548" y="3790950"/>
            <a:ext cx="1571298" cy="504825"/>
          </a:xfrm>
          <a:prstGeom prst="rect">
            <a:avLst/>
          </a:prstGeom>
          <a:noFill/>
          <a:ln/>
        </p:spPr>
        <p:txBody>
          <a:bodyPr wrap="square" lIns="25400" tIns="25400" rIns="25400" bIns="25400" rtlCol="0" anchor="t">
            <a:normAutofit/>
          </a:bodyPr>
          <a:lstStyle/>
          <a:p>
            <a:pPr algn="l" indent="0" marL="0">
              <a:buNone/>
            </a:pPr>
            <a:r>
              <a:rPr lang="en-US" sz="2850" dirty="0">
                <a:solidFill>
                  <a:srgbClr val="131316"/>
                </a:solidFill>
                <a:latin typeface="Arial" pitchFamily="34" charset="0"/>
                <a:ea typeface="Arial" pitchFamily="34" charset="-122"/>
                <a:cs typeface="Arial" pitchFamily="34" charset="-120"/>
              </a:rPr>
              <a:t>$214.3B</a:t>
            </a:r>
            <a:endParaRPr lang="en-US" sz="2850" dirty="0"/>
          </a:p>
        </p:txBody>
      </p:sp>
      <p:sp>
        <p:nvSpPr>
          <p:cNvPr id="16" name="Shape 14"/>
          <p:cNvSpPr/>
          <p:nvPr/>
        </p:nvSpPr>
        <p:spPr>
          <a:xfrm>
            <a:off x="9906000" y="5476875"/>
            <a:ext cx="7239000" cy="9525"/>
          </a:xfrm>
          <a:prstGeom prst="rect">
            <a:avLst/>
          </a:prstGeom>
          <a:solidFill>
            <a:srgbClr val="131316">
              <a:alpha val="14000"/>
            </a:srgbClr>
          </a:solidFill>
          <a:ln/>
        </p:spPr>
      </p:sp>
      <p:sp>
        <p:nvSpPr>
          <p:cNvPr id="17" name="Text 15"/>
          <p:cNvSpPr/>
          <p:nvPr/>
        </p:nvSpPr>
        <p:spPr>
          <a:xfrm>
            <a:off x="9906000" y="4895850"/>
            <a:ext cx="1847805" cy="333375"/>
          </a:xfrm>
          <a:prstGeom prst="rect">
            <a:avLst/>
          </a:prstGeom>
          <a:noFill/>
          <a:ln/>
        </p:spPr>
        <p:txBody>
          <a:bodyPr wrap="square" lIns="25400" tIns="25400" rIns="25400" bIns="25400" rtlCol="0" anchor="t">
            <a:normAutofit/>
          </a:bodyPr>
          <a:lstStyle/>
          <a:p>
            <a:pPr algn="l" indent="0" marL="0">
              <a:buNone/>
            </a:pPr>
            <a:r>
              <a:rPr lang="en-US" sz="2100" dirty="0">
                <a:solidFill>
                  <a:srgbClr val="131316"/>
                </a:solidFill>
                <a:latin typeface="Arial" pitchFamily="34" charset="0"/>
                <a:ea typeface="Arial" pitchFamily="34" charset="-122"/>
                <a:cs typeface="Arial" pitchFamily="34" charset="-120"/>
              </a:rPr>
              <a:t>Total deposits</a:t>
            </a:r>
            <a:endParaRPr lang="en-US" sz="2100" dirty="0"/>
          </a:p>
        </p:txBody>
      </p:sp>
      <p:sp>
        <p:nvSpPr>
          <p:cNvPr id="18" name="Text 16"/>
          <p:cNvSpPr/>
          <p:nvPr/>
        </p:nvSpPr>
        <p:spPr>
          <a:xfrm>
            <a:off x="15716548" y="4762500"/>
            <a:ext cx="1571298" cy="504825"/>
          </a:xfrm>
          <a:prstGeom prst="rect">
            <a:avLst/>
          </a:prstGeom>
          <a:noFill/>
          <a:ln/>
        </p:spPr>
        <p:txBody>
          <a:bodyPr wrap="square" lIns="25400" tIns="25400" rIns="25400" bIns="25400" rtlCol="0" anchor="t">
            <a:normAutofit/>
          </a:bodyPr>
          <a:lstStyle/>
          <a:p>
            <a:pPr algn="l" indent="0" marL="0">
              <a:buNone/>
            </a:pPr>
            <a:r>
              <a:rPr lang="en-US" sz="2850" dirty="0">
                <a:solidFill>
                  <a:srgbClr val="131316"/>
                </a:solidFill>
                <a:latin typeface="Arial" pitchFamily="34" charset="0"/>
                <a:ea typeface="Arial" pitchFamily="34" charset="-122"/>
                <a:cs typeface="Arial" pitchFamily="34" charset="-120"/>
              </a:rPr>
              <a:t>$168.2B</a:t>
            </a:r>
            <a:endParaRPr lang="en-US" sz="2850" dirty="0"/>
          </a:p>
        </p:txBody>
      </p:sp>
      <p:sp>
        <p:nvSpPr>
          <p:cNvPr id="19" name="Shape 17"/>
          <p:cNvSpPr/>
          <p:nvPr/>
        </p:nvSpPr>
        <p:spPr>
          <a:xfrm>
            <a:off x="9906000" y="6448425"/>
            <a:ext cx="7239000" cy="9525"/>
          </a:xfrm>
          <a:prstGeom prst="rect">
            <a:avLst/>
          </a:prstGeom>
          <a:solidFill>
            <a:srgbClr val="131316">
              <a:alpha val="14000"/>
            </a:srgbClr>
          </a:solidFill>
          <a:ln/>
        </p:spPr>
      </p:sp>
      <p:sp>
        <p:nvSpPr>
          <p:cNvPr id="20" name="Text 18"/>
          <p:cNvSpPr/>
          <p:nvPr/>
        </p:nvSpPr>
        <p:spPr>
          <a:xfrm>
            <a:off x="9906000" y="5867400"/>
            <a:ext cx="1996455" cy="333375"/>
          </a:xfrm>
          <a:prstGeom prst="rect">
            <a:avLst/>
          </a:prstGeom>
          <a:noFill/>
          <a:ln/>
        </p:spPr>
        <p:txBody>
          <a:bodyPr wrap="square" lIns="25400" tIns="25400" rIns="25400" bIns="25400" rtlCol="0" anchor="t">
            <a:normAutofit/>
          </a:bodyPr>
          <a:lstStyle/>
          <a:p>
            <a:pPr algn="l" indent="0" marL="0">
              <a:buNone/>
            </a:pPr>
            <a:r>
              <a:rPr lang="en-US" sz="2100" dirty="0">
                <a:solidFill>
                  <a:srgbClr val="131316"/>
                </a:solidFill>
                <a:latin typeface="Arial" pitchFamily="34" charset="0"/>
                <a:ea typeface="Arial" pitchFamily="34" charset="-122"/>
                <a:cs typeface="Arial" pitchFamily="34" charset="-120"/>
              </a:rPr>
              <a:t>Total loans, net</a:t>
            </a:r>
            <a:endParaRPr lang="en-US" sz="2100" dirty="0"/>
          </a:p>
        </p:txBody>
      </p:sp>
      <p:sp>
        <p:nvSpPr>
          <p:cNvPr id="21" name="Text 19"/>
          <p:cNvSpPr/>
          <p:nvPr/>
        </p:nvSpPr>
        <p:spPr>
          <a:xfrm>
            <a:off x="15716548" y="5734050"/>
            <a:ext cx="1571298" cy="504825"/>
          </a:xfrm>
          <a:prstGeom prst="rect">
            <a:avLst/>
          </a:prstGeom>
          <a:noFill/>
          <a:ln/>
        </p:spPr>
        <p:txBody>
          <a:bodyPr wrap="square" lIns="25400" tIns="25400" rIns="25400" bIns="25400" rtlCol="0" anchor="t">
            <a:normAutofit/>
          </a:bodyPr>
          <a:lstStyle/>
          <a:p>
            <a:pPr algn="l" indent="0" marL="0">
              <a:buNone/>
            </a:pPr>
            <a:r>
              <a:rPr lang="en-US" sz="2850" dirty="0">
                <a:solidFill>
                  <a:srgbClr val="131316"/>
                </a:solidFill>
                <a:latin typeface="Arial" pitchFamily="34" charset="0"/>
                <a:ea typeface="Arial" pitchFamily="34" charset="-122"/>
                <a:cs typeface="Arial" pitchFamily="34" charset="-120"/>
              </a:rPr>
              <a:t>$141.8B</a:t>
            </a:r>
            <a:endParaRPr lang="en-US" sz="2850" dirty="0"/>
          </a:p>
        </p:txBody>
      </p:sp>
      <p:sp>
        <p:nvSpPr>
          <p:cNvPr id="22" name="Shape 20"/>
          <p:cNvSpPr/>
          <p:nvPr/>
        </p:nvSpPr>
        <p:spPr>
          <a:xfrm>
            <a:off x="9906000" y="7419975"/>
            <a:ext cx="7239000" cy="9525"/>
          </a:xfrm>
          <a:prstGeom prst="rect">
            <a:avLst/>
          </a:prstGeom>
          <a:solidFill>
            <a:srgbClr val="131316">
              <a:alpha val="14000"/>
            </a:srgbClr>
          </a:solidFill>
          <a:ln/>
        </p:spPr>
      </p:sp>
      <p:sp>
        <p:nvSpPr>
          <p:cNvPr id="23" name="Text 21"/>
          <p:cNvSpPr/>
          <p:nvPr/>
        </p:nvSpPr>
        <p:spPr>
          <a:xfrm>
            <a:off x="9906000" y="6838950"/>
            <a:ext cx="3059757" cy="333375"/>
          </a:xfrm>
          <a:prstGeom prst="rect">
            <a:avLst/>
          </a:prstGeom>
          <a:noFill/>
          <a:ln/>
        </p:spPr>
        <p:txBody>
          <a:bodyPr wrap="square" lIns="25400" tIns="25400" rIns="25400" bIns="25400" rtlCol="0" anchor="t">
            <a:normAutofit/>
          </a:bodyPr>
          <a:lstStyle/>
          <a:p>
            <a:pPr algn="l" indent="0" marL="0">
              <a:buNone/>
            </a:pPr>
            <a:r>
              <a:rPr lang="en-US" sz="2100" dirty="0">
                <a:solidFill>
                  <a:srgbClr val="131316"/>
                </a:solidFill>
                <a:latin typeface="Arial" pitchFamily="34" charset="0"/>
                <a:ea typeface="Arial" pitchFamily="34" charset="-122"/>
                <a:cs typeface="Arial" pitchFamily="34" charset="-120"/>
              </a:rPr>
              <a:t>Liquidity coverage ratio</a:t>
            </a:r>
            <a:endParaRPr lang="en-US" sz="2100" dirty="0"/>
          </a:p>
        </p:txBody>
      </p:sp>
      <p:sp>
        <p:nvSpPr>
          <p:cNvPr id="24" name="Text 22"/>
          <p:cNvSpPr/>
          <p:nvPr/>
        </p:nvSpPr>
        <p:spPr>
          <a:xfrm>
            <a:off x="16150679" y="6705600"/>
            <a:ext cx="1070521" cy="504825"/>
          </a:xfrm>
          <a:prstGeom prst="rect">
            <a:avLst/>
          </a:prstGeom>
          <a:noFill/>
          <a:ln/>
        </p:spPr>
        <p:txBody>
          <a:bodyPr wrap="square" lIns="25400" tIns="25400" rIns="25400" bIns="25400" rtlCol="0" anchor="t">
            <a:normAutofit/>
          </a:bodyPr>
          <a:lstStyle/>
          <a:p>
            <a:pPr algn="l" indent="0" marL="0">
              <a:buNone/>
            </a:pPr>
            <a:r>
              <a:rPr lang="en-US" sz="2850" dirty="0">
                <a:solidFill>
                  <a:srgbClr val="131316"/>
                </a:solidFill>
                <a:latin typeface="Arial" pitchFamily="34" charset="0"/>
                <a:ea typeface="Arial" pitchFamily="34" charset="-122"/>
                <a:cs typeface="Arial" pitchFamily="34" charset="-120"/>
              </a:rPr>
              <a:t>128%</a:t>
            </a:r>
            <a:endParaRPr lang="en-US" sz="2850" dirty="0"/>
          </a:p>
        </p:txBody>
      </p:sp>
      <p:sp>
        <p:nvSpPr>
          <p:cNvPr id="25" name="Text 23"/>
          <p:cNvSpPr/>
          <p:nvPr/>
        </p:nvSpPr>
        <p:spPr>
          <a:xfrm>
            <a:off x="9906000" y="7810500"/>
            <a:ext cx="2885242" cy="333375"/>
          </a:xfrm>
          <a:prstGeom prst="rect">
            <a:avLst/>
          </a:prstGeom>
          <a:noFill/>
          <a:ln/>
        </p:spPr>
        <p:txBody>
          <a:bodyPr wrap="square" lIns="25400" tIns="25400" rIns="25400" bIns="25400" rtlCol="0" anchor="t">
            <a:normAutofit/>
          </a:bodyPr>
          <a:lstStyle/>
          <a:p>
            <a:pPr algn="l" indent="0" marL="0">
              <a:buNone/>
            </a:pPr>
            <a:r>
              <a:rPr lang="en-US" sz="2100" dirty="0">
                <a:solidFill>
                  <a:srgbClr val="131316"/>
                </a:solidFill>
                <a:latin typeface="Arial" pitchFamily="34" charset="0"/>
                <a:ea typeface="Arial" pitchFamily="34" charset="-122"/>
                <a:cs typeface="Arial" pitchFamily="34" charset="-120"/>
              </a:rPr>
              <a:t>Non-performing loans</a:t>
            </a:r>
            <a:endParaRPr lang="en-US" sz="2100" dirty="0"/>
          </a:p>
        </p:txBody>
      </p:sp>
      <p:sp>
        <p:nvSpPr>
          <p:cNvPr id="26" name="Text 24"/>
          <p:cNvSpPr/>
          <p:nvPr/>
        </p:nvSpPr>
        <p:spPr>
          <a:xfrm>
            <a:off x="16046351" y="7677150"/>
            <a:ext cx="1174849" cy="504825"/>
          </a:xfrm>
          <a:prstGeom prst="rect">
            <a:avLst/>
          </a:prstGeom>
          <a:noFill/>
          <a:ln/>
        </p:spPr>
        <p:txBody>
          <a:bodyPr wrap="square" lIns="25400" tIns="25400" rIns="25400" bIns="25400" rtlCol="0" anchor="t">
            <a:normAutofit/>
          </a:bodyPr>
          <a:lstStyle/>
          <a:p>
            <a:pPr algn="l" indent="0" marL="0">
              <a:buNone/>
            </a:pPr>
            <a:r>
              <a:rPr lang="en-US" sz="2850" dirty="0">
                <a:solidFill>
                  <a:srgbClr val="131316"/>
                </a:solidFill>
                <a:latin typeface="Arial" pitchFamily="34" charset="0"/>
                <a:ea typeface="Arial" pitchFamily="34" charset="-122"/>
                <a:cs typeface="Arial" pitchFamily="34" charset="-120"/>
              </a:rPr>
              <a:t>0.71%</a:t>
            </a:r>
            <a:endParaRPr lang="en-US" sz="2850" dirty="0"/>
          </a:p>
        </p:txBody>
      </p:sp>
      <p:sp>
        <p:nvSpPr>
          <p:cNvPr id="27" name="Text 25"/>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Q3 2026 EARNINGS</a:t>
            </a:r>
            <a:endParaRPr lang="en-US" sz="900" dirty="0"/>
          </a:p>
        </p:txBody>
      </p:sp>
      <p:sp>
        <p:nvSpPr>
          <p:cNvPr id="28" name="Text 26"/>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06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131316"/>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131316"/>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039118" cy="361950"/>
          </a:xfrm>
          <a:prstGeom prst="roundRect">
            <a:avLst>
              <a:gd name="adj" fmla="val 50000"/>
            </a:avLst>
          </a:prstGeom>
          <a:ln w="9525">
            <a:solidFill>
              <a:srgbClr val="131316">
                <a:alpha val="28000"/>
              </a:srgbClr>
            </a:solidFill>
            <a:prstDash val="solid"/>
          </a:ln>
        </p:spPr>
      </p:sp>
      <p:sp>
        <p:nvSpPr>
          <p:cNvPr id="5" name="Text 3"/>
          <p:cNvSpPr/>
          <p:nvPr/>
        </p:nvSpPr>
        <p:spPr>
          <a:xfrm>
            <a:off x="3124200" y="523875"/>
            <a:ext cx="810518"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5B5B58"/>
                </a:solidFill>
                <a:latin typeface="Arial" pitchFamily="34" charset="0"/>
                <a:ea typeface="Arial" pitchFamily="34" charset="-122"/>
                <a:cs typeface="Arial" pitchFamily="34" charset="-120"/>
              </a:rPr>
              <a:t>GUIDANCE</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131316">
              <a:alpha val="16000"/>
            </a:srgbClr>
          </a:solidFill>
          <a:ln/>
        </p:spPr>
      </p:sp>
      <p:sp>
        <p:nvSpPr>
          <p:cNvPr id="8" name="Text 6"/>
          <p:cNvSpPr/>
          <p:nvPr/>
        </p:nvSpPr>
        <p:spPr>
          <a:xfrm>
            <a:off x="1143000" y="1524000"/>
            <a:ext cx="3091190"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07 — FULL-YEAR 2026 OUTLOOK</a:t>
            </a:r>
            <a:endParaRPr lang="en-US" sz="1125" dirty="0"/>
          </a:p>
        </p:txBody>
      </p:sp>
      <p:sp>
        <p:nvSpPr>
          <p:cNvPr id="9" name="Text 7"/>
          <p:cNvSpPr/>
          <p:nvPr/>
        </p:nvSpPr>
        <p:spPr>
          <a:xfrm>
            <a:off x="1143000" y="1847850"/>
            <a:ext cx="2624941"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131316"/>
                </a:solidFill>
                <a:latin typeface="Arial" pitchFamily="34" charset="0"/>
                <a:ea typeface="Arial" pitchFamily="34" charset="-122"/>
                <a:cs typeface="Arial" pitchFamily="34" charset="-120"/>
              </a:rPr>
              <a:t>Guidance</a:t>
            </a:r>
            <a:endParaRPr lang="en-US" sz="4650" dirty="0"/>
          </a:p>
        </p:txBody>
      </p:sp>
      <p:sp>
        <p:nvSpPr>
          <p:cNvPr id="10" name="Text 8"/>
          <p:cNvSpPr/>
          <p:nvPr/>
        </p:nvSpPr>
        <p:spPr>
          <a:xfrm>
            <a:off x="1143000" y="2724150"/>
            <a:ext cx="98107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C3C3A"/>
                </a:solidFill>
                <a:latin typeface="Arial" pitchFamily="34" charset="0"/>
                <a:ea typeface="Arial" pitchFamily="34" charset="-122"/>
                <a:cs typeface="Arial" pitchFamily="34" charset="-120"/>
              </a:rPr>
              <a:t>Reaffirmed for the full year ending December 31, 2026. Figures reflect management’s current expectations and are subject to the risk factors that follow.</a:t>
            </a:r>
            <a:endParaRPr lang="en-US" sz="1800" dirty="0"/>
          </a:p>
        </p:txBody>
      </p:sp>
      <p:sp>
        <p:nvSpPr>
          <p:cNvPr id="11" name="Shape 9"/>
          <p:cNvSpPr/>
          <p:nvPr/>
        </p:nvSpPr>
        <p:spPr>
          <a:xfrm>
            <a:off x="1143000" y="4095750"/>
            <a:ext cx="16002000" cy="9525"/>
          </a:xfrm>
          <a:prstGeom prst="rect">
            <a:avLst/>
          </a:prstGeom>
          <a:solidFill>
            <a:srgbClr val="131316">
              <a:alpha val="18000"/>
            </a:srgbClr>
          </a:solidFill>
          <a:ln/>
        </p:spPr>
      </p:sp>
      <p:sp>
        <p:nvSpPr>
          <p:cNvPr id="12" name="Text 10"/>
          <p:cNvSpPr/>
          <p:nvPr/>
        </p:nvSpPr>
        <p:spPr>
          <a:xfrm>
            <a:off x="1143000" y="4476750"/>
            <a:ext cx="13830300" cy="371475"/>
          </a:xfrm>
          <a:prstGeom prst="rect">
            <a:avLst/>
          </a:prstGeom>
          <a:noFill/>
          <a:ln/>
        </p:spPr>
        <p:txBody>
          <a:bodyPr wrap="square" lIns="25400" tIns="25400" rIns="25400" bIns="25400" rtlCol="0" anchor="t">
            <a:normAutofit/>
          </a:bodyPr>
          <a:lstStyle/>
          <a:p>
            <a:pPr algn="l" indent="0" marL="0">
              <a:buNone/>
            </a:pPr>
            <a:r>
              <a:rPr lang="en-US" sz="2400" dirty="0">
                <a:solidFill>
                  <a:srgbClr val="131316"/>
                </a:solidFill>
                <a:latin typeface="Arial" pitchFamily="34" charset="0"/>
                <a:ea typeface="Arial" pitchFamily="34" charset="-122"/>
                <a:cs typeface="Arial" pitchFamily="34" charset="-120"/>
              </a:rPr>
              <a:t>Revenue growth</a:t>
            </a:r>
            <a:endParaRPr lang="en-US" sz="2400" dirty="0"/>
          </a:p>
        </p:txBody>
      </p:sp>
      <p:sp>
        <p:nvSpPr>
          <p:cNvPr id="13" name="Text 11"/>
          <p:cNvSpPr/>
          <p:nvPr/>
        </p:nvSpPr>
        <p:spPr>
          <a:xfrm>
            <a:off x="13373100" y="4333875"/>
            <a:ext cx="3771900" cy="552450"/>
          </a:xfrm>
          <a:prstGeom prst="rect">
            <a:avLst/>
          </a:prstGeom>
          <a:noFill/>
          <a:ln/>
        </p:spPr>
        <p:txBody>
          <a:bodyPr wrap="square" lIns="25400" tIns="25400" rIns="25400" bIns="25400" rtlCol="0" anchor="t">
            <a:normAutofit/>
          </a:bodyPr>
          <a:lstStyle/>
          <a:p>
            <a:pPr algn="r" indent="0" marL="0">
              <a:buNone/>
            </a:pPr>
            <a:r>
              <a:rPr lang="en-US" sz="3450" b="1" dirty="0">
                <a:solidFill>
                  <a:srgbClr val="131316"/>
                </a:solidFill>
                <a:latin typeface="Arial" pitchFamily="34" charset="0"/>
                <a:ea typeface="Arial" pitchFamily="34" charset="-122"/>
                <a:cs typeface="Arial" pitchFamily="34" charset="-120"/>
              </a:rPr>
              <a:t>7–9%</a:t>
            </a:r>
            <a:endParaRPr lang="en-US" sz="3450" dirty="0"/>
          </a:p>
        </p:txBody>
      </p:sp>
      <p:sp>
        <p:nvSpPr>
          <p:cNvPr id="14" name="Shape 12"/>
          <p:cNvSpPr/>
          <p:nvPr/>
        </p:nvSpPr>
        <p:spPr>
          <a:xfrm>
            <a:off x="1143000" y="5076825"/>
            <a:ext cx="16002000" cy="9525"/>
          </a:xfrm>
          <a:prstGeom prst="rect">
            <a:avLst/>
          </a:prstGeom>
          <a:solidFill>
            <a:srgbClr val="131316">
              <a:alpha val="18000"/>
            </a:srgbClr>
          </a:solidFill>
          <a:ln/>
        </p:spPr>
      </p:sp>
      <p:sp>
        <p:nvSpPr>
          <p:cNvPr id="15" name="Text 13"/>
          <p:cNvSpPr/>
          <p:nvPr/>
        </p:nvSpPr>
        <p:spPr>
          <a:xfrm>
            <a:off x="1143000" y="5457825"/>
            <a:ext cx="13830300" cy="371475"/>
          </a:xfrm>
          <a:prstGeom prst="rect">
            <a:avLst/>
          </a:prstGeom>
          <a:noFill/>
          <a:ln/>
        </p:spPr>
        <p:txBody>
          <a:bodyPr wrap="square" lIns="25400" tIns="25400" rIns="25400" bIns="25400" rtlCol="0" anchor="t">
            <a:normAutofit/>
          </a:bodyPr>
          <a:lstStyle/>
          <a:p>
            <a:pPr algn="l" indent="0" marL="0">
              <a:buNone/>
            </a:pPr>
            <a:r>
              <a:rPr lang="en-US" sz="2400" dirty="0">
                <a:solidFill>
                  <a:srgbClr val="131316"/>
                </a:solidFill>
                <a:latin typeface="Arial" pitchFamily="34" charset="0"/>
                <a:ea typeface="Arial" pitchFamily="34" charset="-122"/>
                <a:cs typeface="Arial" pitchFamily="34" charset="-120"/>
              </a:rPr>
              <a:t>Net interest margin</a:t>
            </a:r>
            <a:endParaRPr lang="en-US" sz="2400" dirty="0"/>
          </a:p>
        </p:txBody>
      </p:sp>
      <p:sp>
        <p:nvSpPr>
          <p:cNvPr id="16" name="Text 14"/>
          <p:cNvSpPr/>
          <p:nvPr/>
        </p:nvSpPr>
        <p:spPr>
          <a:xfrm>
            <a:off x="13373100" y="5314950"/>
            <a:ext cx="3771900" cy="552450"/>
          </a:xfrm>
          <a:prstGeom prst="rect">
            <a:avLst/>
          </a:prstGeom>
          <a:noFill/>
          <a:ln/>
        </p:spPr>
        <p:txBody>
          <a:bodyPr wrap="square" lIns="25400" tIns="25400" rIns="25400" bIns="25400" rtlCol="0" anchor="t">
            <a:normAutofit/>
          </a:bodyPr>
          <a:lstStyle/>
          <a:p>
            <a:pPr algn="r" indent="0" marL="0">
              <a:buNone/>
            </a:pPr>
            <a:r>
              <a:rPr lang="en-US" sz="3450" b="1" dirty="0">
                <a:solidFill>
                  <a:srgbClr val="131316"/>
                </a:solidFill>
                <a:latin typeface="Arial" pitchFamily="34" charset="0"/>
                <a:ea typeface="Arial" pitchFamily="34" charset="-122"/>
                <a:cs typeface="Arial" pitchFamily="34" charset="-120"/>
              </a:rPr>
              <a:t>3.10–3.20%</a:t>
            </a:r>
            <a:endParaRPr lang="en-US" sz="3450" dirty="0"/>
          </a:p>
        </p:txBody>
      </p:sp>
      <p:sp>
        <p:nvSpPr>
          <p:cNvPr id="17" name="Shape 15"/>
          <p:cNvSpPr/>
          <p:nvPr/>
        </p:nvSpPr>
        <p:spPr>
          <a:xfrm>
            <a:off x="1143000" y="6057900"/>
            <a:ext cx="16002000" cy="9525"/>
          </a:xfrm>
          <a:prstGeom prst="rect">
            <a:avLst/>
          </a:prstGeom>
          <a:solidFill>
            <a:srgbClr val="131316">
              <a:alpha val="18000"/>
            </a:srgbClr>
          </a:solidFill>
          <a:ln/>
        </p:spPr>
      </p:sp>
      <p:sp>
        <p:nvSpPr>
          <p:cNvPr id="18" name="Text 16"/>
          <p:cNvSpPr/>
          <p:nvPr/>
        </p:nvSpPr>
        <p:spPr>
          <a:xfrm>
            <a:off x="1143000" y="6438900"/>
            <a:ext cx="13830300" cy="371475"/>
          </a:xfrm>
          <a:prstGeom prst="rect">
            <a:avLst/>
          </a:prstGeom>
          <a:noFill/>
          <a:ln/>
        </p:spPr>
        <p:txBody>
          <a:bodyPr wrap="square" lIns="25400" tIns="25400" rIns="25400" bIns="25400" rtlCol="0" anchor="t">
            <a:normAutofit/>
          </a:bodyPr>
          <a:lstStyle/>
          <a:p>
            <a:pPr algn="l" indent="0" marL="0">
              <a:buNone/>
            </a:pPr>
            <a:r>
              <a:rPr lang="en-US" sz="2400" dirty="0">
                <a:solidFill>
                  <a:srgbClr val="131316"/>
                </a:solidFill>
                <a:latin typeface="Arial" pitchFamily="34" charset="0"/>
                <a:ea typeface="Arial" pitchFamily="34" charset="-122"/>
                <a:cs typeface="Arial" pitchFamily="34" charset="-120"/>
              </a:rPr>
              <a:t>Efficiency ratio</a:t>
            </a:r>
            <a:endParaRPr lang="en-US" sz="2400" dirty="0"/>
          </a:p>
        </p:txBody>
      </p:sp>
      <p:sp>
        <p:nvSpPr>
          <p:cNvPr id="19" name="Text 17"/>
          <p:cNvSpPr/>
          <p:nvPr/>
        </p:nvSpPr>
        <p:spPr>
          <a:xfrm>
            <a:off x="13373100" y="6296025"/>
            <a:ext cx="3771900" cy="552450"/>
          </a:xfrm>
          <a:prstGeom prst="rect">
            <a:avLst/>
          </a:prstGeom>
          <a:noFill/>
          <a:ln/>
        </p:spPr>
        <p:txBody>
          <a:bodyPr wrap="square" lIns="25400" tIns="25400" rIns="25400" bIns="25400" rtlCol="0" anchor="t">
            <a:normAutofit/>
          </a:bodyPr>
          <a:lstStyle/>
          <a:p>
            <a:pPr algn="r" indent="0" marL="0">
              <a:buNone/>
            </a:pPr>
            <a:r>
              <a:rPr lang="en-US" sz="3450" b="1" dirty="0">
                <a:solidFill>
                  <a:srgbClr val="FF4A1C"/>
                </a:solidFill>
                <a:latin typeface="Arial" pitchFamily="34" charset="0"/>
                <a:ea typeface="Arial" pitchFamily="34" charset="-122"/>
                <a:cs typeface="Arial" pitchFamily="34" charset="-120"/>
              </a:rPr>
              <a:t>&lt; 55%</a:t>
            </a:r>
            <a:endParaRPr lang="en-US" sz="3450" dirty="0"/>
          </a:p>
        </p:txBody>
      </p:sp>
      <p:sp>
        <p:nvSpPr>
          <p:cNvPr id="20" name="Shape 18"/>
          <p:cNvSpPr/>
          <p:nvPr/>
        </p:nvSpPr>
        <p:spPr>
          <a:xfrm>
            <a:off x="1143000" y="7038975"/>
            <a:ext cx="16002000" cy="9525"/>
          </a:xfrm>
          <a:prstGeom prst="rect">
            <a:avLst/>
          </a:prstGeom>
          <a:solidFill>
            <a:srgbClr val="131316">
              <a:alpha val="18000"/>
            </a:srgbClr>
          </a:solidFill>
          <a:ln/>
        </p:spPr>
      </p:sp>
      <p:sp>
        <p:nvSpPr>
          <p:cNvPr id="21" name="Text 19"/>
          <p:cNvSpPr/>
          <p:nvPr/>
        </p:nvSpPr>
        <p:spPr>
          <a:xfrm>
            <a:off x="1143000" y="7419975"/>
            <a:ext cx="13830300" cy="371475"/>
          </a:xfrm>
          <a:prstGeom prst="rect">
            <a:avLst/>
          </a:prstGeom>
          <a:noFill/>
          <a:ln/>
        </p:spPr>
        <p:txBody>
          <a:bodyPr wrap="square" lIns="25400" tIns="25400" rIns="25400" bIns="25400" rtlCol="0" anchor="t">
            <a:normAutofit/>
          </a:bodyPr>
          <a:lstStyle/>
          <a:p>
            <a:pPr algn="l" indent="0" marL="0">
              <a:buNone/>
            </a:pPr>
            <a:r>
              <a:rPr lang="en-US" sz="2400" dirty="0">
                <a:solidFill>
                  <a:srgbClr val="131316"/>
                </a:solidFill>
                <a:latin typeface="Arial" pitchFamily="34" charset="0"/>
                <a:ea typeface="Arial" pitchFamily="34" charset="-122"/>
                <a:cs typeface="Arial" pitchFamily="34" charset="-120"/>
              </a:rPr>
              <a:t>Return on tangible common equity</a:t>
            </a:r>
            <a:endParaRPr lang="en-US" sz="2400" dirty="0"/>
          </a:p>
        </p:txBody>
      </p:sp>
      <p:sp>
        <p:nvSpPr>
          <p:cNvPr id="22" name="Text 20"/>
          <p:cNvSpPr/>
          <p:nvPr/>
        </p:nvSpPr>
        <p:spPr>
          <a:xfrm>
            <a:off x="13373100" y="7277100"/>
            <a:ext cx="3771900" cy="552450"/>
          </a:xfrm>
          <a:prstGeom prst="rect">
            <a:avLst/>
          </a:prstGeom>
          <a:noFill/>
          <a:ln/>
        </p:spPr>
        <p:txBody>
          <a:bodyPr wrap="square" lIns="25400" tIns="25400" rIns="25400" bIns="25400" rtlCol="0" anchor="t">
            <a:normAutofit/>
          </a:bodyPr>
          <a:lstStyle/>
          <a:p>
            <a:pPr algn="r" indent="0" marL="0">
              <a:buNone/>
            </a:pPr>
            <a:r>
              <a:rPr lang="en-US" sz="3450" b="1" dirty="0">
                <a:solidFill>
                  <a:srgbClr val="131316"/>
                </a:solidFill>
                <a:latin typeface="Arial" pitchFamily="34" charset="0"/>
                <a:ea typeface="Arial" pitchFamily="34" charset="-122"/>
                <a:cs typeface="Arial" pitchFamily="34" charset="-120"/>
              </a:rPr>
              <a:t>15–16%</a:t>
            </a:r>
            <a:endParaRPr lang="en-US" sz="3450" dirty="0"/>
          </a:p>
        </p:txBody>
      </p:sp>
      <p:sp>
        <p:nvSpPr>
          <p:cNvPr id="23" name="Shape 21"/>
          <p:cNvSpPr/>
          <p:nvPr/>
        </p:nvSpPr>
        <p:spPr>
          <a:xfrm>
            <a:off x="1143000" y="9001125"/>
            <a:ext cx="16002000" cy="9525"/>
          </a:xfrm>
          <a:prstGeom prst="rect">
            <a:avLst/>
          </a:prstGeom>
          <a:solidFill>
            <a:srgbClr val="131316">
              <a:alpha val="18000"/>
            </a:srgbClr>
          </a:solidFill>
          <a:ln/>
        </p:spPr>
      </p:sp>
      <p:sp>
        <p:nvSpPr>
          <p:cNvPr id="24" name="Shape 22"/>
          <p:cNvSpPr/>
          <p:nvPr/>
        </p:nvSpPr>
        <p:spPr>
          <a:xfrm>
            <a:off x="1143000" y="8020050"/>
            <a:ext cx="16002000" cy="9525"/>
          </a:xfrm>
          <a:prstGeom prst="rect">
            <a:avLst/>
          </a:prstGeom>
          <a:solidFill>
            <a:srgbClr val="131316">
              <a:alpha val="18000"/>
            </a:srgbClr>
          </a:solidFill>
          <a:ln/>
        </p:spPr>
      </p:sp>
      <p:sp>
        <p:nvSpPr>
          <p:cNvPr id="25" name="Text 23"/>
          <p:cNvSpPr/>
          <p:nvPr/>
        </p:nvSpPr>
        <p:spPr>
          <a:xfrm>
            <a:off x="1143000" y="8401050"/>
            <a:ext cx="13830300" cy="371475"/>
          </a:xfrm>
          <a:prstGeom prst="rect">
            <a:avLst/>
          </a:prstGeom>
          <a:noFill/>
          <a:ln/>
        </p:spPr>
        <p:txBody>
          <a:bodyPr wrap="square" lIns="25400" tIns="25400" rIns="25400" bIns="25400" rtlCol="0" anchor="t">
            <a:normAutofit/>
          </a:bodyPr>
          <a:lstStyle/>
          <a:p>
            <a:pPr algn="l" indent="0" marL="0">
              <a:buNone/>
            </a:pPr>
            <a:r>
              <a:rPr lang="en-US" sz="2400" dirty="0">
                <a:solidFill>
                  <a:srgbClr val="131316"/>
                </a:solidFill>
                <a:latin typeface="Arial" pitchFamily="34" charset="0"/>
                <a:ea typeface="Arial" pitchFamily="34" charset="-122"/>
                <a:cs typeface="Arial" pitchFamily="34" charset="-120"/>
              </a:rPr>
              <a:t>CET1 ratio</a:t>
            </a:r>
            <a:endParaRPr lang="en-US" sz="2400" dirty="0"/>
          </a:p>
        </p:txBody>
      </p:sp>
      <p:sp>
        <p:nvSpPr>
          <p:cNvPr id="26" name="Text 24"/>
          <p:cNvSpPr/>
          <p:nvPr/>
        </p:nvSpPr>
        <p:spPr>
          <a:xfrm>
            <a:off x="13373100" y="8258175"/>
            <a:ext cx="3771900" cy="552450"/>
          </a:xfrm>
          <a:prstGeom prst="rect">
            <a:avLst/>
          </a:prstGeom>
          <a:noFill/>
          <a:ln/>
        </p:spPr>
        <p:txBody>
          <a:bodyPr wrap="square" lIns="25400" tIns="25400" rIns="25400" bIns="25400" rtlCol="0" anchor="t">
            <a:normAutofit/>
          </a:bodyPr>
          <a:lstStyle/>
          <a:p>
            <a:pPr algn="r" indent="0" marL="0">
              <a:buNone/>
            </a:pPr>
            <a:r>
              <a:rPr lang="en-US" sz="3450" b="1" dirty="0">
                <a:solidFill>
                  <a:srgbClr val="131316"/>
                </a:solidFill>
                <a:latin typeface="Arial" pitchFamily="34" charset="0"/>
                <a:ea typeface="Arial" pitchFamily="34" charset="-122"/>
                <a:cs typeface="Arial" pitchFamily="34" charset="-120"/>
              </a:rPr>
              <a:t>&gt; 12%</a:t>
            </a:r>
            <a:endParaRPr lang="en-US" sz="3450" dirty="0"/>
          </a:p>
        </p:txBody>
      </p:sp>
      <p:sp>
        <p:nvSpPr>
          <p:cNvPr id="27" name="Text 25"/>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Q3 2026 EARNINGS</a:t>
            </a:r>
            <a:endParaRPr lang="en-US" sz="900" dirty="0"/>
          </a:p>
        </p:txBody>
      </p:sp>
      <p:sp>
        <p:nvSpPr>
          <p:cNvPr id="28" name="Text 26"/>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07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316"/>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F6F4EF"/>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F6F4EF"/>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503462" cy="361950"/>
          </a:xfrm>
          <a:prstGeom prst="roundRect">
            <a:avLst>
              <a:gd name="adj" fmla="val 50000"/>
            </a:avLst>
          </a:prstGeom>
          <a:ln w="9525">
            <a:solidFill>
              <a:srgbClr val="F6F4EF">
                <a:alpha val="30000"/>
              </a:srgbClr>
            </a:solidFill>
            <a:prstDash val="solid"/>
          </a:ln>
        </p:spPr>
      </p:sp>
      <p:sp>
        <p:nvSpPr>
          <p:cNvPr id="5" name="Text 3"/>
          <p:cNvSpPr/>
          <p:nvPr/>
        </p:nvSpPr>
        <p:spPr>
          <a:xfrm>
            <a:off x="3124200" y="523875"/>
            <a:ext cx="1274862"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C9C7C0"/>
                </a:solidFill>
                <a:latin typeface="Arial" pitchFamily="34" charset="0"/>
                <a:ea typeface="Arial" pitchFamily="34" charset="-122"/>
                <a:cs typeface="Arial" pitchFamily="34" charset="-120"/>
              </a:rPr>
              <a:t>CAPITAL RETURN</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9A9A9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F6F4EF">
              <a:alpha val="18000"/>
            </a:srgbClr>
          </a:solidFill>
          <a:ln/>
        </p:spPr>
      </p:sp>
      <p:sp>
        <p:nvSpPr>
          <p:cNvPr id="8" name="Text 6"/>
          <p:cNvSpPr/>
          <p:nvPr/>
        </p:nvSpPr>
        <p:spPr>
          <a:xfrm>
            <a:off x="1143000" y="1524000"/>
            <a:ext cx="2658993"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08 — DIVIDEND &amp; BUYBACK</a:t>
            </a:r>
            <a:endParaRPr lang="en-US" sz="1125" dirty="0"/>
          </a:p>
        </p:txBody>
      </p:sp>
      <p:sp>
        <p:nvSpPr>
          <p:cNvPr id="9" name="Text 7"/>
          <p:cNvSpPr/>
          <p:nvPr/>
        </p:nvSpPr>
        <p:spPr>
          <a:xfrm>
            <a:off x="1143000" y="1847850"/>
            <a:ext cx="8419981"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F6F4EF"/>
                </a:solidFill>
                <a:latin typeface="Arial" pitchFamily="34" charset="0"/>
                <a:ea typeface="Arial" pitchFamily="34" charset="-122"/>
                <a:cs typeface="Arial" pitchFamily="34" charset="-120"/>
              </a:rPr>
              <a:t>Returning capital with discipline</a:t>
            </a:r>
            <a:endParaRPr lang="en-US" sz="4650" dirty="0"/>
          </a:p>
        </p:txBody>
      </p:sp>
      <p:sp>
        <p:nvSpPr>
          <p:cNvPr id="10" name="Text 8"/>
          <p:cNvSpPr/>
          <p:nvPr/>
        </p:nvSpPr>
        <p:spPr>
          <a:xfrm>
            <a:off x="1143000" y="3733800"/>
            <a:ext cx="7962900" cy="1257300"/>
          </a:xfrm>
          <a:prstGeom prst="rect">
            <a:avLst/>
          </a:prstGeom>
          <a:noFill/>
          <a:ln/>
        </p:spPr>
        <p:txBody>
          <a:bodyPr wrap="square" lIns="25400" tIns="25400" rIns="25400" bIns="25400" rtlCol="0" anchor="t">
            <a:normAutofit/>
          </a:bodyPr>
          <a:lstStyle/>
          <a:p>
            <a:pPr algn="l" indent="0" marL="0">
              <a:lnSpc>
                <a:spcPct val="100000"/>
              </a:lnSpc>
              <a:buNone/>
            </a:pPr>
            <a:r>
              <a:rPr lang="en-US" sz="9600" b="1" spc="-288" kern="0" dirty="0">
                <a:solidFill>
                  <a:srgbClr val="F6F4EF"/>
                </a:solidFill>
                <a:latin typeface="Arial" pitchFamily="34" charset="0"/>
                <a:ea typeface="Arial" pitchFamily="34" charset="-122"/>
                <a:cs typeface="Arial" pitchFamily="34" charset="-120"/>
              </a:rPr>
              <a:t>$0.48</a:t>
            </a:r>
            <a:endParaRPr lang="en-US" sz="9600" dirty="0"/>
          </a:p>
        </p:txBody>
      </p:sp>
      <p:sp>
        <p:nvSpPr>
          <p:cNvPr id="11" name="Text 9"/>
          <p:cNvSpPr/>
          <p:nvPr/>
        </p:nvSpPr>
        <p:spPr>
          <a:xfrm>
            <a:off x="1143000" y="5124450"/>
            <a:ext cx="7962900"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QUARTERLY DIVIDEND PER SHARE</a:t>
            </a:r>
            <a:endParaRPr lang="en-US" sz="1050" dirty="0"/>
          </a:p>
        </p:txBody>
      </p:sp>
      <p:sp>
        <p:nvSpPr>
          <p:cNvPr id="12" name="Text 10"/>
          <p:cNvSpPr/>
          <p:nvPr/>
        </p:nvSpPr>
        <p:spPr>
          <a:xfrm>
            <a:off x="1143000" y="5372100"/>
            <a:ext cx="79629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C9C7C0"/>
                </a:solidFill>
                <a:latin typeface="Arial" pitchFamily="34" charset="0"/>
                <a:ea typeface="Arial" pitchFamily="34" charset="-122"/>
                <a:cs typeface="Arial" pitchFamily="34" charset="-120"/>
              </a:rPr>
              <a:t>Raised 9% · 14th consecutive annual increase</a:t>
            </a:r>
            <a:endParaRPr lang="en-US" sz="1500" dirty="0"/>
          </a:p>
        </p:txBody>
      </p:sp>
      <p:sp>
        <p:nvSpPr>
          <p:cNvPr id="13" name="Text 11"/>
          <p:cNvSpPr/>
          <p:nvPr/>
        </p:nvSpPr>
        <p:spPr>
          <a:xfrm>
            <a:off x="1143000" y="6477000"/>
            <a:ext cx="7962900" cy="1257300"/>
          </a:xfrm>
          <a:prstGeom prst="rect">
            <a:avLst/>
          </a:prstGeom>
          <a:noFill/>
          <a:ln/>
        </p:spPr>
        <p:txBody>
          <a:bodyPr wrap="square" lIns="25400" tIns="25400" rIns="25400" bIns="25400" rtlCol="0" anchor="t">
            <a:normAutofit/>
          </a:bodyPr>
          <a:lstStyle/>
          <a:p>
            <a:pPr algn="l" indent="0" marL="0">
              <a:lnSpc>
                <a:spcPct val="100000"/>
              </a:lnSpc>
              <a:buNone/>
            </a:pPr>
            <a:r>
              <a:rPr lang="en-US" sz="9600" b="1" spc="-288" kern="0" dirty="0">
                <a:solidFill>
                  <a:srgbClr val="FF4A1C"/>
                </a:solidFill>
                <a:latin typeface="Arial" pitchFamily="34" charset="0"/>
                <a:ea typeface="Arial" pitchFamily="34" charset="-122"/>
                <a:cs typeface="Arial" pitchFamily="34" charset="-120"/>
              </a:rPr>
              <a:t>$420</a:t>
            </a:r>
            <a:pPr algn="l" indent="0" marL="0">
              <a:lnSpc>
                <a:spcPct val="100000"/>
              </a:lnSpc>
              <a:buNone/>
            </a:pPr>
            <a:r>
              <a:rPr lang="en-US" sz="4500" b="1" spc="-288" kern="0" dirty="0">
                <a:solidFill>
                  <a:srgbClr val="FF4A1C"/>
                </a:solidFill>
                <a:latin typeface="Arial" pitchFamily="34" charset="0"/>
                <a:ea typeface="Arial" pitchFamily="34" charset="-122"/>
                <a:cs typeface="Arial" pitchFamily="34" charset="-120"/>
              </a:rPr>
              <a:t>M</a:t>
            </a:r>
            <a:endParaRPr lang="en-US" sz="9600" dirty="0"/>
          </a:p>
        </p:txBody>
      </p:sp>
      <p:sp>
        <p:nvSpPr>
          <p:cNvPr id="14" name="Text 12"/>
          <p:cNvSpPr/>
          <p:nvPr/>
        </p:nvSpPr>
        <p:spPr>
          <a:xfrm>
            <a:off x="1143000" y="7867650"/>
            <a:ext cx="7962900"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SHARES REPURCHASED IN Q3</a:t>
            </a:r>
            <a:endParaRPr lang="en-US" sz="1050" dirty="0"/>
          </a:p>
        </p:txBody>
      </p:sp>
      <p:sp>
        <p:nvSpPr>
          <p:cNvPr id="15" name="Text 13"/>
          <p:cNvSpPr/>
          <p:nvPr/>
        </p:nvSpPr>
        <p:spPr>
          <a:xfrm>
            <a:off x="1143000" y="8115300"/>
            <a:ext cx="79629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C9C7C0"/>
                </a:solidFill>
                <a:latin typeface="Arial" pitchFamily="34" charset="0"/>
                <a:ea typeface="Arial" pitchFamily="34" charset="-122"/>
                <a:cs typeface="Arial" pitchFamily="34" charset="-120"/>
              </a:rPr>
              <a:t>5.1M shares retired · $1.5B authorization, $640M remaining</a:t>
            </a:r>
            <a:endParaRPr lang="en-US" sz="1500" dirty="0"/>
          </a:p>
        </p:txBody>
      </p:sp>
      <p:sp>
        <p:nvSpPr>
          <p:cNvPr id="16" name="Shape 14"/>
          <p:cNvSpPr/>
          <p:nvPr/>
        </p:nvSpPr>
        <p:spPr>
          <a:xfrm>
            <a:off x="11430000" y="4848225"/>
            <a:ext cx="5715000" cy="9525"/>
          </a:xfrm>
          <a:prstGeom prst="rect">
            <a:avLst/>
          </a:prstGeom>
          <a:solidFill>
            <a:srgbClr val="F6F4EF">
              <a:alpha val="14000"/>
            </a:srgbClr>
          </a:solidFill>
          <a:ln/>
        </p:spPr>
      </p:sp>
      <p:sp>
        <p:nvSpPr>
          <p:cNvPr id="17" name="Text 15"/>
          <p:cNvSpPr/>
          <p:nvPr/>
        </p:nvSpPr>
        <p:spPr>
          <a:xfrm>
            <a:off x="11430000" y="4324350"/>
            <a:ext cx="1930152"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TOTAL PAYOUT RATIO</a:t>
            </a:r>
            <a:endParaRPr lang="en-US" sz="1050" dirty="0"/>
          </a:p>
        </p:txBody>
      </p:sp>
      <p:sp>
        <p:nvSpPr>
          <p:cNvPr id="18" name="Text 16"/>
          <p:cNvSpPr/>
          <p:nvPr/>
        </p:nvSpPr>
        <p:spPr>
          <a:xfrm>
            <a:off x="16092934" y="4019550"/>
            <a:ext cx="1128266" cy="581025"/>
          </a:xfrm>
          <a:prstGeom prst="rect">
            <a:avLst/>
          </a:prstGeom>
          <a:noFill/>
          <a:ln/>
        </p:spPr>
        <p:txBody>
          <a:bodyPr wrap="square" lIns="25400" tIns="25400" rIns="25400" bIns="25400" rtlCol="0" anchor="t">
            <a:normAutofit/>
          </a:bodyPr>
          <a:lstStyle/>
          <a:p>
            <a:pPr algn="l" indent="0" marL="0">
              <a:buNone/>
            </a:pPr>
            <a:r>
              <a:rPr lang="en-US" sz="3900" b="1" dirty="0">
                <a:solidFill>
                  <a:srgbClr val="F6F4EF"/>
                </a:solidFill>
                <a:latin typeface="Arial" pitchFamily="34" charset="0"/>
                <a:ea typeface="Arial" pitchFamily="34" charset="-122"/>
                <a:cs typeface="Arial" pitchFamily="34" charset="-120"/>
              </a:rPr>
              <a:t>62%</a:t>
            </a:r>
            <a:endParaRPr lang="en-US" sz="3900" dirty="0"/>
          </a:p>
        </p:txBody>
      </p:sp>
      <p:sp>
        <p:nvSpPr>
          <p:cNvPr id="19" name="Shape 17"/>
          <p:cNvSpPr/>
          <p:nvPr/>
        </p:nvSpPr>
        <p:spPr>
          <a:xfrm>
            <a:off x="11430000" y="5972175"/>
            <a:ext cx="5715000" cy="9525"/>
          </a:xfrm>
          <a:prstGeom prst="rect">
            <a:avLst/>
          </a:prstGeom>
          <a:solidFill>
            <a:srgbClr val="F6F4EF">
              <a:alpha val="14000"/>
            </a:srgbClr>
          </a:solidFill>
          <a:ln/>
        </p:spPr>
      </p:sp>
      <p:sp>
        <p:nvSpPr>
          <p:cNvPr id="20" name="Text 18"/>
          <p:cNvSpPr/>
          <p:nvPr/>
        </p:nvSpPr>
        <p:spPr>
          <a:xfrm>
            <a:off x="11430000" y="5448300"/>
            <a:ext cx="1498610"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DIVIDEND YIELD</a:t>
            </a:r>
            <a:endParaRPr lang="en-US" sz="1050" dirty="0"/>
          </a:p>
        </p:txBody>
      </p:sp>
      <p:sp>
        <p:nvSpPr>
          <p:cNvPr id="21" name="Text 19"/>
          <p:cNvSpPr/>
          <p:nvPr/>
        </p:nvSpPr>
        <p:spPr>
          <a:xfrm>
            <a:off x="15944255" y="5143500"/>
            <a:ext cx="1320820" cy="581025"/>
          </a:xfrm>
          <a:prstGeom prst="rect">
            <a:avLst/>
          </a:prstGeom>
          <a:noFill/>
          <a:ln/>
        </p:spPr>
        <p:txBody>
          <a:bodyPr wrap="square" lIns="25400" tIns="25400" rIns="25400" bIns="25400" rtlCol="0" anchor="t">
            <a:normAutofit/>
          </a:bodyPr>
          <a:lstStyle/>
          <a:p>
            <a:pPr algn="l" indent="0" marL="0">
              <a:buNone/>
            </a:pPr>
            <a:r>
              <a:rPr lang="en-US" sz="3900" b="1" dirty="0">
                <a:solidFill>
                  <a:srgbClr val="F6F4EF"/>
                </a:solidFill>
                <a:latin typeface="Arial" pitchFamily="34" charset="0"/>
                <a:ea typeface="Arial" pitchFamily="34" charset="-122"/>
                <a:cs typeface="Arial" pitchFamily="34" charset="-120"/>
              </a:rPr>
              <a:t>3.1%</a:t>
            </a:r>
            <a:endParaRPr lang="en-US" sz="3900" dirty="0"/>
          </a:p>
        </p:txBody>
      </p:sp>
      <p:sp>
        <p:nvSpPr>
          <p:cNvPr id="22" name="Shape 20"/>
          <p:cNvSpPr/>
          <p:nvPr/>
        </p:nvSpPr>
        <p:spPr>
          <a:xfrm>
            <a:off x="11430000" y="7096125"/>
            <a:ext cx="5715000" cy="9525"/>
          </a:xfrm>
          <a:prstGeom prst="rect">
            <a:avLst/>
          </a:prstGeom>
          <a:solidFill>
            <a:srgbClr val="F6F4EF">
              <a:alpha val="14000"/>
            </a:srgbClr>
          </a:solidFill>
          <a:ln/>
        </p:spPr>
      </p:sp>
      <p:sp>
        <p:nvSpPr>
          <p:cNvPr id="23" name="Text 21"/>
          <p:cNvSpPr/>
          <p:nvPr/>
        </p:nvSpPr>
        <p:spPr>
          <a:xfrm>
            <a:off x="11430000" y="6572250"/>
            <a:ext cx="2247096"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CAPITAL RETURNED, YTD</a:t>
            </a:r>
            <a:endParaRPr lang="en-US" sz="1050" dirty="0"/>
          </a:p>
        </p:txBody>
      </p:sp>
      <p:sp>
        <p:nvSpPr>
          <p:cNvPr id="24" name="Text 22"/>
          <p:cNvSpPr/>
          <p:nvPr/>
        </p:nvSpPr>
        <p:spPr>
          <a:xfrm>
            <a:off x="15518309" y="6267450"/>
            <a:ext cx="1789361" cy="581025"/>
          </a:xfrm>
          <a:prstGeom prst="rect">
            <a:avLst/>
          </a:prstGeom>
          <a:noFill/>
          <a:ln/>
        </p:spPr>
        <p:txBody>
          <a:bodyPr wrap="square" lIns="25400" tIns="25400" rIns="25400" bIns="25400" rtlCol="0" anchor="t">
            <a:normAutofit/>
          </a:bodyPr>
          <a:lstStyle/>
          <a:p>
            <a:pPr algn="l" indent="0" marL="0">
              <a:buNone/>
            </a:pPr>
            <a:r>
              <a:rPr lang="en-US" sz="3900" b="1" dirty="0">
                <a:solidFill>
                  <a:srgbClr val="F6F4EF"/>
                </a:solidFill>
                <a:latin typeface="Arial" pitchFamily="34" charset="0"/>
                <a:ea typeface="Arial" pitchFamily="34" charset="-122"/>
                <a:cs typeface="Arial" pitchFamily="34" charset="-120"/>
              </a:rPr>
              <a:t>$1.46B</a:t>
            </a:r>
            <a:endParaRPr lang="en-US" sz="3900" dirty="0"/>
          </a:p>
        </p:txBody>
      </p:sp>
      <p:sp>
        <p:nvSpPr>
          <p:cNvPr id="25" name="Text 23"/>
          <p:cNvSpPr/>
          <p:nvPr/>
        </p:nvSpPr>
        <p:spPr>
          <a:xfrm>
            <a:off x="11430000" y="7696200"/>
            <a:ext cx="2021175"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9A9A96"/>
                </a:solidFill>
                <a:latin typeface="Arial" pitchFamily="34" charset="0"/>
                <a:ea typeface="Arial" pitchFamily="34" charset="-122"/>
                <a:cs typeface="Arial" pitchFamily="34" charset="-120"/>
              </a:rPr>
              <a:t>DILUTED SHARES, YOY</a:t>
            </a:r>
            <a:endParaRPr lang="en-US" sz="1050" dirty="0"/>
          </a:p>
        </p:txBody>
      </p:sp>
      <p:sp>
        <p:nvSpPr>
          <p:cNvPr id="26" name="Text 24"/>
          <p:cNvSpPr/>
          <p:nvPr/>
        </p:nvSpPr>
        <p:spPr>
          <a:xfrm>
            <a:off x="15629334" y="7391400"/>
            <a:ext cx="1667232" cy="581025"/>
          </a:xfrm>
          <a:prstGeom prst="rect">
            <a:avLst/>
          </a:prstGeom>
          <a:noFill/>
          <a:ln/>
        </p:spPr>
        <p:txBody>
          <a:bodyPr wrap="square" lIns="25400" tIns="25400" rIns="25400" bIns="25400" rtlCol="0" anchor="t">
            <a:normAutofit/>
          </a:bodyPr>
          <a:lstStyle/>
          <a:p>
            <a:pPr algn="l" indent="0" marL="0">
              <a:buNone/>
            </a:pPr>
            <a:r>
              <a:rPr lang="en-US" sz="3900" b="1" dirty="0">
                <a:solidFill>
                  <a:srgbClr val="F6F4EF"/>
                </a:solidFill>
                <a:latin typeface="Arial" pitchFamily="34" charset="0"/>
                <a:ea typeface="Arial" pitchFamily="34" charset="-122"/>
                <a:cs typeface="Arial" pitchFamily="34" charset="-120"/>
              </a:rPr>
              <a:t>−2.8%</a:t>
            </a:r>
            <a:endParaRPr lang="en-US" sz="3900" dirty="0"/>
          </a:p>
        </p:txBody>
      </p:sp>
      <p:sp>
        <p:nvSpPr>
          <p:cNvPr id="27" name="Text 25"/>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Q3 2026 EARNINGS</a:t>
            </a:r>
            <a:endParaRPr lang="en-US" sz="900" dirty="0"/>
          </a:p>
        </p:txBody>
      </p:sp>
      <p:sp>
        <p:nvSpPr>
          <p:cNvPr id="28" name="Text 26"/>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08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131316"/>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131316"/>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321445" cy="361950"/>
          </a:xfrm>
          <a:prstGeom prst="roundRect">
            <a:avLst>
              <a:gd name="adj" fmla="val 50000"/>
            </a:avLst>
          </a:prstGeom>
          <a:ln w="9525">
            <a:solidFill>
              <a:srgbClr val="131316">
                <a:alpha val="28000"/>
              </a:srgbClr>
            </a:solidFill>
            <a:prstDash val="solid"/>
          </a:ln>
        </p:spPr>
      </p:sp>
      <p:sp>
        <p:nvSpPr>
          <p:cNvPr id="5" name="Text 3"/>
          <p:cNvSpPr/>
          <p:nvPr/>
        </p:nvSpPr>
        <p:spPr>
          <a:xfrm>
            <a:off x="3124200" y="523875"/>
            <a:ext cx="1092845"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5B5B58"/>
                </a:solidFill>
                <a:latin typeface="Arial" pitchFamily="34" charset="0"/>
                <a:ea typeface="Arial" pitchFamily="34" charset="-122"/>
                <a:cs typeface="Arial" pitchFamily="34" charset="-120"/>
              </a:rPr>
              <a:t>RISK FACTORS</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131316">
              <a:alpha val="16000"/>
            </a:srgbClr>
          </a:solidFill>
          <a:ln/>
        </p:spPr>
      </p:sp>
      <p:sp>
        <p:nvSpPr>
          <p:cNvPr id="8" name="Text 6"/>
          <p:cNvSpPr/>
          <p:nvPr/>
        </p:nvSpPr>
        <p:spPr>
          <a:xfrm>
            <a:off x="1143000" y="1524000"/>
            <a:ext cx="2968734"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09 — WHAT WE ARE WATCHING</a:t>
            </a:r>
            <a:endParaRPr lang="en-US" sz="1125" dirty="0"/>
          </a:p>
        </p:txBody>
      </p:sp>
      <p:sp>
        <p:nvSpPr>
          <p:cNvPr id="9" name="Text 7"/>
          <p:cNvSpPr/>
          <p:nvPr/>
        </p:nvSpPr>
        <p:spPr>
          <a:xfrm>
            <a:off x="1143000" y="1847850"/>
            <a:ext cx="3159130"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131316"/>
                </a:solidFill>
                <a:latin typeface="Arial" pitchFamily="34" charset="0"/>
                <a:ea typeface="Arial" pitchFamily="34" charset="-122"/>
                <a:cs typeface="Arial" pitchFamily="34" charset="-120"/>
              </a:rPr>
              <a:t>Risk factors</a:t>
            </a:r>
            <a:endParaRPr lang="en-US" sz="4650" dirty="0"/>
          </a:p>
        </p:txBody>
      </p:sp>
      <p:sp>
        <p:nvSpPr>
          <p:cNvPr id="10" name="Shape 8"/>
          <p:cNvSpPr/>
          <p:nvPr/>
        </p:nvSpPr>
        <p:spPr>
          <a:xfrm>
            <a:off x="1143000" y="3143250"/>
            <a:ext cx="16002000" cy="9525"/>
          </a:xfrm>
          <a:prstGeom prst="rect">
            <a:avLst/>
          </a:prstGeom>
          <a:solidFill>
            <a:srgbClr val="131316">
              <a:alpha val="18000"/>
            </a:srgbClr>
          </a:solidFill>
          <a:ln/>
        </p:spPr>
      </p:sp>
      <p:sp>
        <p:nvSpPr>
          <p:cNvPr id="11" name="Text 9"/>
          <p:cNvSpPr/>
          <p:nvPr/>
        </p:nvSpPr>
        <p:spPr>
          <a:xfrm>
            <a:off x="1143000" y="3438525"/>
            <a:ext cx="1219200"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8A8A86"/>
                </a:solidFill>
                <a:latin typeface="Arial" pitchFamily="34" charset="0"/>
                <a:ea typeface="Arial" pitchFamily="34" charset="-122"/>
                <a:cs typeface="Arial" pitchFamily="34" charset="-120"/>
              </a:rPr>
              <a:t>01</a:t>
            </a:r>
            <a:endParaRPr lang="en-US" sz="1650" dirty="0"/>
          </a:p>
        </p:txBody>
      </p:sp>
      <p:sp>
        <p:nvSpPr>
          <p:cNvPr id="12" name="Text 10"/>
          <p:cNvSpPr/>
          <p:nvPr/>
        </p:nvSpPr>
        <p:spPr>
          <a:xfrm>
            <a:off x="2286000" y="3438525"/>
            <a:ext cx="481965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Interest-rate environment</a:t>
            </a:r>
            <a:endParaRPr lang="en-US" sz="2250" dirty="0"/>
          </a:p>
        </p:txBody>
      </p:sp>
      <p:sp>
        <p:nvSpPr>
          <p:cNvPr id="13" name="Text 11"/>
          <p:cNvSpPr/>
          <p:nvPr/>
        </p:nvSpPr>
        <p:spPr>
          <a:xfrm>
            <a:off x="6667500" y="3438525"/>
            <a:ext cx="1152525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3C3C3A"/>
                </a:solidFill>
                <a:latin typeface="Arial" pitchFamily="34" charset="0"/>
                <a:ea typeface="Arial" pitchFamily="34" charset="-122"/>
                <a:cs typeface="Arial" pitchFamily="34" charset="-120"/>
              </a:rPr>
              <a:t>Margins remain sensitive to the pace and path of central-bank policy and the shape of the yield curve.</a:t>
            </a:r>
            <a:endParaRPr lang="en-US" sz="1650" dirty="0"/>
          </a:p>
        </p:txBody>
      </p:sp>
      <p:sp>
        <p:nvSpPr>
          <p:cNvPr id="14" name="Shape 12"/>
          <p:cNvSpPr/>
          <p:nvPr/>
        </p:nvSpPr>
        <p:spPr>
          <a:xfrm>
            <a:off x="1143000" y="4038600"/>
            <a:ext cx="16002000" cy="9525"/>
          </a:xfrm>
          <a:prstGeom prst="rect">
            <a:avLst/>
          </a:prstGeom>
          <a:solidFill>
            <a:srgbClr val="131316">
              <a:alpha val="18000"/>
            </a:srgbClr>
          </a:solidFill>
          <a:ln/>
        </p:spPr>
      </p:sp>
      <p:sp>
        <p:nvSpPr>
          <p:cNvPr id="15" name="Text 13"/>
          <p:cNvSpPr/>
          <p:nvPr/>
        </p:nvSpPr>
        <p:spPr>
          <a:xfrm>
            <a:off x="1143000" y="4333875"/>
            <a:ext cx="1219200"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8A8A86"/>
                </a:solidFill>
                <a:latin typeface="Arial" pitchFamily="34" charset="0"/>
                <a:ea typeface="Arial" pitchFamily="34" charset="-122"/>
                <a:cs typeface="Arial" pitchFamily="34" charset="-120"/>
              </a:rPr>
              <a:t>02</a:t>
            </a:r>
            <a:endParaRPr lang="en-US" sz="1650" dirty="0"/>
          </a:p>
        </p:txBody>
      </p:sp>
      <p:sp>
        <p:nvSpPr>
          <p:cNvPr id="16" name="Text 14"/>
          <p:cNvSpPr/>
          <p:nvPr/>
        </p:nvSpPr>
        <p:spPr>
          <a:xfrm>
            <a:off x="2286000" y="4333875"/>
            <a:ext cx="481965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Credit quality</a:t>
            </a:r>
            <a:endParaRPr lang="en-US" sz="2250" dirty="0"/>
          </a:p>
        </p:txBody>
      </p:sp>
      <p:sp>
        <p:nvSpPr>
          <p:cNvPr id="17" name="Text 15"/>
          <p:cNvSpPr/>
          <p:nvPr/>
        </p:nvSpPr>
        <p:spPr>
          <a:xfrm>
            <a:off x="6667500" y="4333875"/>
            <a:ext cx="1152525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3C3C3A"/>
                </a:solidFill>
                <a:latin typeface="Arial" pitchFamily="34" charset="0"/>
                <a:ea typeface="Arial" pitchFamily="34" charset="-122"/>
                <a:cs typeface="Arial" pitchFamily="34" charset="-120"/>
              </a:rPr>
              <a:t>A weaker macroeconomic backdrop could lift provisions for credit losses above current expectations.</a:t>
            </a:r>
            <a:endParaRPr lang="en-US" sz="1650" dirty="0"/>
          </a:p>
        </p:txBody>
      </p:sp>
      <p:sp>
        <p:nvSpPr>
          <p:cNvPr id="18" name="Shape 16"/>
          <p:cNvSpPr/>
          <p:nvPr/>
        </p:nvSpPr>
        <p:spPr>
          <a:xfrm>
            <a:off x="1143000" y="4933950"/>
            <a:ext cx="16002000" cy="9525"/>
          </a:xfrm>
          <a:prstGeom prst="rect">
            <a:avLst/>
          </a:prstGeom>
          <a:solidFill>
            <a:srgbClr val="131316">
              <a:alpha val="18000"/>
            </a:srgbClr>
          </a:solidFill>
          <a:ln/>
        </p:spPr>
      </p:sp>
      <p:sp>
        <p:nvSpPr>
          <p:cNvPr id="19" name="Text 17"/>
          <p:cNvSpPr/>
          <p:nvPr/>
        </p:nvSpPr>
        <p:spPr>
          <a:xfrm>
            <a:off x="1143000" y="5229225"/>
            <a:ext cx="1219200"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8A8A86"/>
                </a:solidFill>
                <a:latin typeface="Arial" pitchFamily="34" charset="0"/>
                <a:ea typeface="Arial" pitchFamily="34" charset="-122"/>
                <a:cs typeface="Arial" pitchFamily="34" charset="-120"/>
              </a:rPr>
              <a:t>03</a:t>
            </a:r>
            <a:endParaRPr lang="en-US" sz="1650" dirty="0"/>
          </a:p>
        </p:txBody>
      </p:sp>
      <p:sp>
        <p:nvSpPr>
          <p:cNvPr id="20" name="Text 18"/>
          <p:cNvSpPr/>
          <p:nvPr/>
        </p:nvSpPr>
        <p:spPr>
          <a:xfrm>
            <a:off x="2286000" y="5229225"/>
            <a:ext cx="481965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Regulatory change</a:t>
            </a:r>
            <a:endParaRPr lang="en-US" sz="2250" dirty="0"/>
          </a:p>
        </p:txBody>
      </p:sp>
      <p:sp>
        <p:nvSpPr>
          <p:cNvPr id="21" name="Text 19"/>
          <p:cNvSpPr/>
          <p:nvPr/>
        </p:nvSpPr>
        <p:spPr>
          <a:xfrm>
            <a:off x="6667500" y="5229225"/>
            <a:ext cx="1152525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3C3C3A"/>
                </a:solidFill>
                <a:latin typeface="Arial" pitchFamily="34" charset="0"/>
                <a:ea typeface="Arial" pitchFamily="34" charset="-122"/>
                <a:cs typeface="Arial" pitchFamily="34" charset="-120"/>
              </a:rPr>
              <a:t>Evolving capital, liquidity and consumer rules may affect the pace at which we deploy excess capital.</a:t>
            </a:r>
            <a:endParaRPr lang="en-US" sz="1650" dirty="0"/>
          </a:p>
        </p:txBody>
      </p:sp>
      <p:sp>
        <p:nvSpPr>
          <p:cNvPr id="22" name="Shape 20"/>
          <p:cNvSpPr/>
          <p:nvPr/>
        </p:nvSpPr>
        <p:spPr>
          <a:xfrm>
            <a:off x="1143000" y="5829300"/>
            <a:ext cx="16002000" cy="9525"/>
          </a:xfrm>
          <a:prstGeom prst="rect">
            <a:avLst/>
          </a:prstGeom>
          <a:solidFill>
            <a:srgbClr val="131316">
              <a:alpha val="18000"/>
            </a:srgbClr>
          </a:solidFill>
          <a:ln/>
        </p:spPr>
      </p:sp>
      <p:sp>
        <p:nvSpPr>
          <p:cNvPr id="23" name="Text 21"/>
          <p:cNvSpPr/>
          <p:nvPr/>
        </p:nvSpPr>
        <p:spPr>
          <a:xfrm>
            <a:off x="1143000" y="6124575"/>
            <a:ext cx="1219200"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8A8A86"/>
                </a:solidFill>
                <a:latin typeface="Arial" pitchFamily="34" charset="0"/>
                <a:ea typeface="Arial" pitchFamily="34" charset="-122"/>
                <a:cs typeface="Arial" pitchFamily="34" charset="-120"/>
              </a:rPr>
              <a:t>04</a:t>
            </a:r>
            <a:endParaRPr lang="en-US" sz="1650" dirty="0"/>
          </a:p>
        </p:txBody>
      </p:sp>
      <p:sp>
        <p:nvSpPr>
          <p:cNvPr id="24" name="Text 22"/>
          <p:cNvSpPr/>
          <p:nvPr/>
        </p:nvSpPr>
        <p:spPr>
          <a:xfrm>
            <a:off x="2286000" y="6124575"/>
            <a:ext cx="481965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Deposit competition</a:t>
            </a:r>
            <a:endParaRPr lang="en-US" sz="2250" dirty="0"/>
          </a:p>
        </p:txBody>
      </p:sp>
      <p:sp>
        <p:nvSpPr>
          <p:cNvPr id="25" name="Text 23"/>
          <p:cNvSpPr/>
          <p:nvPr/>
        </p:nvSpPr>
        <p:spPr>
          <a:xfrm>
            <a:off x="6667500" y="6124575"/>
            <a:ext cx="1152525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3C3C3A"/>
                </a:solidFill>
                <a:latin typeface="Arial" pitchFamily="34" charset="0"/>
                <a:ea typeface="Arial" pitchFamily="34" charset="-122"/>
                <a:cs typeface="Arial" pitchFamily="34" charset="-120"/>
              </a:rPr>
              <a:t>Funding costs could rise faster than asset repricing if competition for deposits intensifies.</a:t>
            </a:r>
            <a:endParaRPr lang="en-US" sz="1650" dirty="0"/>
          </a:p>
        </p:txBody>
      </p:sp>
      <p:sp>
        <p:nvSpPr>
          <p:cNvPr id="26" name="Shape 24"/>
          <p:cNvSpPr/>
          <p:nvPr/>
        </p:nvSpPr>
        <p:spPr>
          <a:xfrm>
            <a:off x="1143000" y="7620000"/>
            <a:ext cx="16002000" cy="9525"/>
          </a:xfrm>
          <a:prstGeom prst="rect">
            <a:avLst/>
          </a:prstGeom>
          <a:solidFill>
            <a:srgbClr val="131316">
              <a:alpha val="18000"/>
            </a:srgbClr>
          </a:solidFill>
          <a:ln/>
        </p:spPr>
      </p:sp>
      <p:sp>
        <p:nvSpPr>
          <p:cNvPr id="27" name="Shape 25"/>
          <p:cNvSpPr/>
          <p:nvPr/>
        </p:nvSpPr>
        <p:spPr>
          <a:xfrm>
            <a:off x="1143000" y="6724650"/>
            <a:ext cx="16002000" cy="9525"/>
          </a:xfrm>
          <a:prstGeom prst="rect">
            <a:avLst/>
          </a:prstGeom>
          <a:solidFill>
            <a:srgbClr val="131316">
              <a:alpha val="18000"/>
            </a:srgbClr>
          </a:solidFill>
          <a:ln/>
        </p:spPr>
      </p:sp>
      <p:sp>
        <p:nvSpPr>
          <p:cNvPr id="28" name="Text 26"/>
          <p:cNvSpPr/>
          <p:nvPr/>
        </p:nvSpPr>
        <p:spPr>
          <a:xfrm>
            <a:off x="1143000" y="7019925"/>
            <a:ext cx="1219200"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8A8A86"/>
                </a:solidFill>
                <a:latin typeface="Arial" pitchFamily="34" charset="0"/>
                <a:ea typeface="Arial" pitchFamily="34" charset="-122"/>
                <a:cs typeface="Arial" pitchFamily="34" charset="-120"/>
              </a:rPr>
              <a:t>05</a:t>
            </a:r>
            <a:endParaRPr lang="en-US" sz="1650" dirty="0"/>
          </a:p>
        </p:txBody>
      </p:sp>
      <p:sp>
        <p:nvSpPr>
          <p:cNvPr id="29" name="Text 27"/>
          <p:cNvSpPr/>
          <p:nvPr/>
        </p:nvSpPr>
        <p:spPr>
          <a:xfrm>
            <a:off x="2286000" y="7019925"/>
            <a:ext cx="4819650"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131316"/>
                </a:solidFill>
                <a:latin typeface="Arial" pitchFamily="34" charset="0"/>
                <a:ea typeface="Arial" pitchFamily="34" charset="-122"/>
                <a:cs typeface="Arial" pitchFamily="34" charset="-120"/>
              </a:rPr>
              <a:t>Technology &amp; operational risk</a:t>
            </a:r>
            <a:endParaRPr lang="en-US" sz="2250" dirty="0"/>
          </a:p>
        </p:txBody>
      </p:sp>
      <p:sp>
        <p:nvSpPr>
          <p:cNvPr id="30" name="Text 28"/>
          <p:cNvSpPr/>
          <p:nvPr/>
        </p:nvSpPr>
        <p:spPr>
          <a:xfrm>
            <a:off x="6667500" y="7019925"/>
            <a:ext cx="1152525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3C3C3A"/>
                </a:solidFill>
                <a:latin typeface="Arial" pitchFamily="34" charset="0"/>
                <a:ea typeface="Arial" pitchFamily="34" charset="-122"/>
                <a:cs typeface="Arial" pitchFamily="34" charset="-120"/>
              </a:rPr>
              <a:t>Cybersecurity and third-party dependencies require continued investment to manage effectively.</a:t>
            </a:r>
            <a:endParaRPr lang="en-US" sz="1650" dirty="0"/>
          </a:p>
        </p:txBody>
      </p:sp>
      <p:sp>
        <p:nvSpPr>
          <p:cNvPr id="31" name="Text 29"/>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Q3 2026 EARNINGS</a:t>
            </a:r>
            <a:endParaRPr lang="en-US" sz="900" dirty="0"/>
          </a:p>
        </p:txBody>
      </p:sp>
      <p:sp>
        <p:nvSpPr>
          <p:cNvPr id="32" name="Text 30"/>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09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316"/>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F6F4EF"/>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F6F4EF"/>
                </a:solidFill>
                <a:latin typeface="Arial" pitchFamily="34" charset="0"/>
                <a:ea typeface="Arial" pitchFamily="34" charset="-122"/>
                <a:cs typeface="Arial" pitchFamily="34" charset="-120"/>
              </a:rPr>
              <a:t>©</a:t>
            </a:r>
            <a:endParaRPr lang="en-US" sz="825" dirty="0"/>
          </a:p>
        </p:txBody>
      </p:sp>
      <p:sp>
        <p:nvSpPr>
          <p:cNvPr id="4" name="Text 2"/>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9A9A96"/>
                </a:solidFill>
                <a:latin typeface="Arial" pitchFamily="34" charset="0"/>
                <a:ea typeface="Arial" pitchFamily="34" charset="-122"/>
                <a:cs typeface="Arial" pitchFamily="34" charset="-120"/>
              </a:rPr>
              <a:t>Q3 2026 · NYSE: MRDN</a:t>
            </a:r>
            <a:endParaRPr lang="en-US" sz="975" dirty="0"/>
          </a:p>
        </p:txBody>
      </p:sp>
      <p:sp>
        <p:nvSpPr>
          <p:cNvPr id="5" name="Shape 3"/>
          <p:cNvSpPr/>
          <p:nvPr/>
        </p:nvSpPr>
        <p:spPr>
          <a:xfrm>
            <a:off x="1143000" y="1009650"/>
            <a:ext cx="16002000" cy="9525"/>
          </a:xfrm>
          <a:prstGeom prst="rect">
            <a:avLst/>
          </a:prstGeom>
          <a:solidFill>
            <a:srgbClr val="F6F4EF">
              <a:alpha val="18000"/>
            </a:srgbClr>
          </a:solidFill>
          <a:ln/>
        </p:spPr>
      </p:sp>
      <p:sp>
        <p:nvSpPr>
          <p:cNvPr id="6" name="Text 4"/>
          <p:cNvSpPr/>
          <p:nvPr/>
        </p:nvSpPr>
        <p:spPr>
          <a:xfrm>
            <a:off x="1143000" y="3429000"/>
            <a:ext cx="1619429" cy="247650"/>
          </a:xfrm>
          <a:prstGeom prst="rect">
            <a:avLst/>
          </a:prstGeom>
          <a:noFill/>
          <a:ln/>
        </p:spPr>
        <p:txBody>
          <a:bodyPr wrap="square" lIns="25400" tIns="25400" rIns="25400" bIns="25400" rtlCol="0" anchor="t">
            <a:normAutofit/>
          </a:bodyPr>
          <a:lstStyle/>
          <a:p>
            <a:pPr algn="l" indent="0" marL="0">
              <a:buNone/>
            </a:pPr>
            <a:r>
              <a:rPr lang="en-US" sz="1275" spc="230" kern="0" dirty="0">
                <a:solidFill>
                  <a:srgbClr val="FF4A1C"/>
                </a:solidFill>
                <a:latin typeface="Arial" pitchFamily="34" charset="0"/>
                <a:ea typeface="Arial" pitchFamily="34" charset="-122"/>
                <a:cs typeface="Arial" pitchFamily="34" charset="-120"/>
              </a:rPr>
              <a:t>10 — OUTLOOK</a:t>
            </a:r>
            <a:endParaRPr lang="en-US" sz="1275" dirty="0"/>
          </a:p>
        </p:txBody>
      </p:sp>
      <p:sp>
        <p:nvSpPr>
          <p:cNvPr id="7" name="Text 5"/>
          <p:cNvSpPr/>
          <p:nvPr/>
        </p:nvSpPr>
        <p:spPr>
          <a:xfrm>
            <a:off x="1143000" y="4095750"/>
            <a:ext cx="15893415" cy="2476500"/>
          </a:xfrm>
          <a:prstGeom prst="rect">
            <a:avLst/>
          </a:prstGeom>
          <a:noFill/>
          <a:ln/>
        </p:spPr>
        <p:txBody>
          <a:bodyPr wrap="square" lIns="25400" tIns="25400" rIns="25400" bIns="25400" rtlCol="0" anchor="t">
            <a:normAutofit/>
          </a:bodyPr>
          <a:lstStyle/>
          <a:p>
            <a:pPr algn="l" indent="0" marL="0">
              <a:lnSpc>
                <a:spcPct val="100000"/>
              </a:lnSpc>
              <a:buNone/>
            </a:pPr>
            <a:r>
              <a:rPr lang="en-US" sz="9600" b="1" spc="-336" kern="0" dirty="0">
                <a:solidFill>
                  <a:srgbClr val="F6F4EF"/>
                </a:solidFill>
                <a:latin typeface="Arial" pitchFamily="34" charset="0"/>
                <a:ea typeface="Arial" pitchFamily="34" charset="-122"/>
                <a:cs typeface="Arial" pitchFamily="34" charset="-120"/>
              </a:rPr>
              <a:t>Disciplined growth that </a:t>
            </a:r>
            <a:pPr algn="l" indent="0" marL="0">
              <a:lnSpc>
                <a:spcPct val="100000"/>
              </a:lnSpc>
              <a:buNone/>
            </a:pPr>
            <a:r>
              <a:rPr lang="en-US" sz="9600" b="1" spc="-336" kern="0" dirty="0">
                <a:solidFill>
                  <a:srgbClr val="FF4A1C"/>
                </a:solidFill>
                <a:latin typeface="Arial" pitchFamily="34" charset="0"/>
                <a:ea typeface="Arial" pitchFamily="34" charset="-122"/>
                <a:cs typeface="Arial" pitchFamily="34" charset="-120"/>
              </a:rPr>
              <a:t>compounds</a:t>
            </a:r>
            <a:pPr algn="l" indent="0" marL="0">
              <a:lnSpc>
                <a:spcPct val="100000"/>
              </a:lnSpc>
              <a:buNone/>
            </a:pPr>
            <a:r>
              <a:rPr lang="en-US" sz="9600" b="1" spc="-336" kern="0" dirty="0">
                <a:solidFill>
                  <a:srgbClr val="F6F4EF"/>
                </a:solidFill>
                <a:latin typeface="Arial" pitchFamily="34" charset="0"/>
                <a:ea typeface="Arial" pitchFamily="34" charset="-122"/>
                <a:cs typeface="Arial" pitchFamily="34" charset="-120"/>
              </a:rPr>
              <a:t>.</a:t>
            </a:r>
            <a:endParaRPr lang="en-US" sz="9600" dirty="0"/>
          </a:p>
        </p:txBody>
      </p:sp>
      <p:sp>
        <p:nvSpPr>
          <p:cNvPr id="8" name="Text 6"/>
          <p:cNvSpPr/>
          <p:nvPr/>
        </p:nvSpPr>
        <p:spPr>
          <a:xfrm>
            <a:off x="1181100" y="7239000"/>
            <a:ext cx="11576685"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9C7C0"/>
                </a:solidFill>
                <a:latin typeface="Arial" pitchFamily="34" charset="0"/>
                <a:ea typeface="Arial" pitchFamily="34" charset="-122"/>
                <a:cs typeface="Arial" pitchFamily="34" charset="-120"/>
              </a:rPr>
              <a:t>We enter the next cycle from a position of strength — expanding margins, a fortress balance sheet, and capital returned with discipline.</a:t>
            </a:r>
            <a:endParaRPr lang="en-US" sz="2100" dirty="0"/>
          </a:p>
        </p:txBody>
      </p:sp>
      <p:sp>
        <p:nvSpPr>
          <p:cNvPr id="9" name="Text 7"/>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Q3 2026 EARNINGS</a:t>
            </a:r>
            <a:endParaRPr lang="en-US" sz="900" dirty="0"/>
          </a:p>
        </p:txBody>
      </p:sp>
      <p:sp>
        <p:nvSpPr>
          <p:cNvPr id="10" name="Text 8"/>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9A9A96"/>
                </a:solidFill>
                <a:latin typeface="Arial" pitchFamily="34" charset="0"/>
                <a:ea typeface="Arial" pitchFamily="34" charset="-122"/>
                <a:cs typeface="Arial" pitchFamily="34" charset="-120"/>
              </a:rPr>
              <a:t>10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143000" y="557213"/>
            <a:ext cx="1221432" cy="304800"/>
          </a:xfrm>
          <a:prstGeom prst="rect">
            <a:avLst/>
          </a:prstGeom>
          <a:noFill/>
          <a:ln/>
        </p:spPr>
        <p:txBody>
          <a:bodyPr wrap="square" lIns="0" tIns="0" rIns="0" bIns="0" rtlCol="0" anchor="t">
            <a:normAutofit/>
          </a:bodyPr>
          <a:lstStyle/>
          <a:p>
            <a:pPr algn="l" indent="0" marL="0">
              <a:buNone/>
            </a:pPr>
            <a:r>
              <a:rPr lang="en-US" sz="1875" b="1" spc="-19" kern="0" dirty="0">
                <a:solidFill>
                  <a:srgbClr val="131316"/>
                </a:solidFill>
                <a:latin typeface="Arial" pitchFamily="34" charset="0"/>
                <a:ea typeface="Arial" pitchFamily="34" charset="-122"/>
                <a:cs typeface="Arial" pitchFamily="34" charset="-120"/>
              </a:rPr>
              <a:t>MERIDIAN</a:t>
            </a:r>
            <a:endParaRPr lang="en-US" sz="1875" dirty="0"/>
          </a:p>
        </p:txBody>
      </p:sp>
      <p:sp>
        <p:nvSpPr>
          <p:cNvPr id="3" name="Text 1"/>
          <p:cNvSpPr/>
          <p:nvPr/>
        </p:nvSpPr>
        <p:spPr>
          <a:xfrm>
            <a:off x="2288232" y="543967"/>
            <a:ext cx="153888" cy="152400"/>
          </a:xfrm>
          <a:prstGeom prst="rect">
            <a:avLst/>
          </a:prstGeom>
          <a:noFill/>
          <a:ln/>
        </p:spPr>
        <p:txBody>
          <a:bodyPr wrap="square" lIns="25400" tIns="25400" rIns="25400" bIns="25400" rtlCol="0" anchor="t">
            <a:normAutofit/>
          </a:bodyPr>
          <a:lstStyle/>
          <a:p>
            <a:pPr algn="l" indent="0" marL="0">
              <a:buNone/>
            </a:pPr>
            <a:r>
              <a:rPr lang="en-US" sz="825" b="1" spc="-19" kern="0" dirty="0">
                <a:solidFill>
                  <a:srgbClr val="131316"/>
                </a:solidFill>
                <a:latin typeface="Arial" pitchFamily="34" charset="0"/>
                <a:ea typeface="Arial" pitchFamily="34" charset="-122"/>
                <a:cs typeface="Arial" pitchFamily="34" charset="-120"/>
              </a:rPr>
              <a:t>©</a:t>
            </a:r>
            <a:endParaRPr lang="en-US" sz="825" dirty="0"/>
          </a:p>
        </p:txBody>
      </p:sp>
      <p:sp>
        <p:nvSpPr>
          <p:cNvPr id="4" name="Shape 2"/>
          <p:cNvSpPr/>
          <p:nvPr/>
        </p:nvSpPr>
        <p:spPr>
          <a:xfrm>
            <a:off x="2971800" y="514350"/>
            <a:ext cx="1857226" cy="361950"/>
          </a:xfrm>
          <a:prstGeom prst="roundRect">
            <a:avLst>
              <a:gd name="adj" fmla="val 50000"/>
            </a:avLst>
          </a:prstGeom>
          <a:ln w="9525">
            <a:solidFill>
              <a:srgbClr val="131316">
                <a:alpha val="28000"/>
              </a:srgbClr>
            </a:solidFill>
            <a:prstDash val="solid"/>
          </a:ln>
        </p:spPr>
      </p:sp>
      <p:sp>
        <p:nvSpPr>
          <p:cNvPr id="5" name="Text 3"/>
          <p:cNvSpPr/>
          <p:nvPr/>
        </p:nvSpPr>
        <p:spPr>
          <a:xfrm>
            <a:off x="3124200" y="523875"/>
            <a:ext cx="1628626" cy="381000"/>
          </a:xfrm>
          <a:prstGeom prst="rect">
            <a:avLst/>
          </a:prstGeom>
          <a:noFill/>
          <a:ln/>
        </p:spPr>
        <p:txBody>
          <a:bodyPr wrap="square" lIns="25400" tIns="25400" rIns="25400" bIns="25400" rtlCol="0" anchor="ctr">
            <a:normAutofit/>
          </a:bodyPr>
          <a:lstStyle/>
          <a:p>
            <a:pPr algn="l" indent="0" marL="0">
              <a:buNone/>
            </a:pPr>
            <a:r>
              <a:rPr lang="en-US" sz="900" spc="162" kern="0" dirty="0">
                <a:solidFill>
                  <a:srgbClr val="5B5B58"/>
                </a:solidFill>
                <a:latin typeface="Arial" pitchFamily="34" charset="0"/>
                <a:ea typeface="Arial" pitchFamily="34" charset="-122"/>
                <a:cs typeface="Arial" pitchFamily="34" charset="-120"/>
              </a:rPr>
              <a:t>APPENDIX &amp; CONTACT</a:t>
            </a:r>
            <a:endParaRPr lang="en-US" sz="900" dirty="0"/>
          </a:p>
        </p:txBody>
      </p:sp>
      <p:sp>
        <p:nvSpPr>
          <p:cNvPr id="6" name="Text 4"/>
          <p:cNvSpPr/>
          <p:nvPr/>
        </p:nvSpPr>
        <p:spPr>
          <a:xfrm>
            <a:off x="15393739" y="514350"/>
            <a:ext cx="1827461" cy="400050"/>
          </a:xfrm>
          <a:prstGeom prst="rect">
            <a:avLst/>
          </a:prstGeom>
          <a:noFill/>
          <a:ln/>
        </p:spPr>
        <p:txBody>
          <a:bodyPr wrap="square" lIns="25400" tIns="25400" rIns="25400" bIns="25400" rtlCol="0" anchor="ctr">
            <a:normAutofit/>
          </a:bodyPr>
          <a:lstStyle/>
          <a:p>
            <a:pPr algn="l" indent="0" marL="0">
              <a:buNone/>
            </a:pPr>
            <a:r>
              <a:rPr lang="en-US" sz="975" spc="176" kern="0" dirty="0">
                <a:solidFill>
                  <a:srgbClr val="8A8A86"/>
                </a:solidFill>
                <a:latin typeface="Arial" pitchFamily="34" charset="0"/>
                <a:ea typeface="Arial" pitchFamily="34" charset="-122"/>
                <a:cs typeface="Arial" pitchFamily="34" charset="-120"/>
              </a:rPr>
              <a:t>Q3 2026 · NYSE: MRDN</a:t>
            </a:r>
            <a:endParaRPr lang="en-US" sz="975" dirty="0"/>
          </a:p>
        </p:txBody>
      </p:sp>
      <p:sp>
        <p:nvSpPr>
          <p:cNvPr id="7" name="Shape 5"/>
          <p:cNvSpPr/>
          <p:nvPr/>
        </p:nvSpPr>
        <p:spPr>
          <a:xfrm>
            <a:off x="1143000" y="1009650"/>
            <a:ext cx="16002000" cy="9525"/>
          </a:xfrm>
          <a:prstGeom prst="rect">
            <a:avLst/>
          </a:prstGeom>
          <a:solidFill>
            <a:srgbClr val="131316">
              <a:alpha val="16000"/>
            </a:srgbClr>
          </a:solidFill>
          <a:ln/>
        </p:spPr>
      </p:sp>
      <p:sp>
        <p:nvSpPr>
          <p:cNvPr id="8" name="Text 6"/>
          <p:cNvSpPr/>
          <p:nvPr/>
        </p:nvSpPr>
        <p:spPr>
          <a:xfrm>
            <a:off x="1143000" y="1524000"/>
            <a:ext cx="1901339" cy="21907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F4A1C"/>
                </a:solidFill>
                <a:latin typeface="Arial" pitchFamily="34" charset="0"/>
                <a:ea typeface="Arial" pitchFamily="34" charset="-122"/>
                <a:cs typeface="Arial" pitchFamily="34" charset="-120"/>
              </a:rPr>
              <a:t>11 — INFORMATION</a:t>
            </a:r>
            <a:endParaRPr lang="en-US" sz="1125" dirty="0"/>
          </a:p>
        </p:txBody>
      </p:sp>
      <p:sp>
        <p:nvSpPr>
          <p:cNvPr id="9" name="Text 7"/>
          <p:cNvSpPr/>
          <p:nvPr/>
        </p:nvSpPr>
        <p:spPr>
          <a:xfrm>
            <a:off x="1143000" y="1847850"/>
            <a:ext cx="5246772" cy="714375"/>
          </a:xfrm>
          <a:prstGeom prst="rect">
            <a:avLst/>
          </a:prstGeom>
          <a:noFill/>
          <a:ln/>
        </p:spPr>
        <p:txBody>
          <a:bodyPr wrap="square" lIns="25400" tIns="25400" rIns="25400" bIns="25400" rtlCol="0" anchor="t">
            <a:normAutofit/>
          </a:bodyPr>
          <a:lstStyle/>
          <a:p>
            <a:pPr algn="l" indent="0" marL="0">
              <a:buNone/>
            </a:pPr>
            <a:r>
              <a:rPr lang="en-US" sz="4650" b="1" spc="-139" kern="0" dirty="0">
                <a:solidFill>
                  <a:srgbClr val="131316"/>
                </a:solidFill>
                <a:latin typeface="Arial" pitchFamily="34" charset="0"/>
                <a:ea typeface="Arial" pitchFamily="34" charset="-122"/>
                <a:cs typeface="Arial" pitchFamily="34" charset="-120"/>
              </a:rPr>
              <a:t>Appendix &amp; contact</a:t>
            </a:r>
            <a:endParaRPr lang="en-US" sz="4650" dirty="0"/>
          </a:p>
        </p:txBody>
      </p:sp>
      <p:sp>
        <p:nvSpPr>
          <p:cNvPr id="10" name="Shape 8"/>
          <p:cNvSpPr/>
          <p:nvPr/>
        </p:nvSpPr>
        <p:spPr>
          <a:xfrm>
            <a:off x="1143000" y="3581400"/>
            <a:ext cx="6477000" cy="9525"/>
          </a:xfrm>
          <a:prstGeom prst="rect">
            <a:avLst/>
          </a:prstGeom>
          <a:solidFill>
            <a:srgbClr val="131316">
              <a:alpha val="20000"/>
            </a:srgbClr>
          </a:solidFill>
          <a:ln/>
        </p:spPr>
      </p:sp>
      <p:sp>
        <p:nvSpPr>
          <p:cNvPr id="11" name="Text 9"/>
          <p:cNvSpPr/>
          <p:nvPr/>
        </p:nvSpPr>
        <p:spPr>
          <a:xfrm>
            <a:off x="1143000" y="3238500"/>
            <a:ext cx="6671310"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A8A86"/>
                </a:solidFill>
                <a:latin typeface="Arial" pitchFamily="34" charset="0"/>
                <a:ea typeface="Arial" pitchFamily="34" charset="-122"/>
                <a:cs typeface="Arial" pitchFamily="34" charset="-120"/>
              </a:rPr>
              <a:t>INVESTOR RELATIONS</a:t>
            </a:r>
            <a:endParaRPr lang="en-US" sz="1050" dirty="0"/>
          </a:p>
        </p:txBody>
      </p:sp>
      <p:sp>
        <p:nvSpPr>
          <p:cNvPr id="12" name="Text 10"/>
          <p:cNvSpPr/>
          <p:nvPr/>
        </p:nvSpPr>
        <p:spPr>
          <a:xfrm>
            <a:off x="1143000" y="3876675"/>
            <a:ext cx="7124700" cy="447675"/>
          </a:xfrm>
          <a:prstGeom prst="rect">
            <a:avLst/>
          </a:prstGeom>
          <a:noFill/>
          <a:ln/>
        </p:spPr>
        <p:txBody>
          <a:bodyPr wrap="square" lIns="25400" tIns="25400" rIns="25400" bIns="25400" rtlCol="0" anchor="t">
            <a:normAutofit/>
          </a:bodyPr>
          <a:lstStyle/>
          <a:p>
            <a:pPr algn="l" indent="0" marL="0">
              <a:buNone/>
            </a:pPr>
            <a:r>
              <a:rPr lang="en-US" sz="3000" b="1" dirty="0">
                <a:solidFill>
                  <a:srgbClr val="131316"/>
                </a:solidFill>
                <a:latin typeface="Arial" pitchFamily="34" charset="0"/>
                <a:ea typeface="Arial" pitchFamily="34" charset="-122"/>
                <a:cs typeface="Arial" pitchFamily="34" charset="-120"/>
              </a:rPr>
              <a:t>Eleanor V. Hartwell</a:t>
            </a:r>
            <a:endParaRPr lang="en-US" sz="3000" dirty="0"/>
          </a:p>
        </p:txBody>
      </p:sp>
      <p:sp>
        <p:nvSpPr>
          <p:cNvPr id="13" name="Text 11"/>
          <p:cNvSpPr/>
          <p:nvPr/>
        </p:nvSpPr>
        <p:spPr>
          <a:xfrm>
            <a:off x="1143000" y="4343400"/>
            <a:ext cx="71247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C3C3A"/>
                </a:solidFill>
                <a:latin typeface="Arial" pitchFamily="34" charset="0"/>
                <a:ea typeface="Arial" pitchFamily="34" charset="-122"/>
                <a:cs typeface="Arial" pitchFamily="34" charset="-120"/>
              </a:rPr>
              <a:t>Head of Investor Relations</a:t>
            </a:r>
            <a:endParaRPr lang="en-US" sz="1800" dirty="0"/>
          </a:p>
        </p:txBody>
      </p:sp>
      <p:sp>
        <p:nvSpPr>
          <p:cNvPr id="14" name="Text 12"/>
          <p:cNvSpPr/>
          <p:nvPr/>
        </p:nvSpPr>
        <p:spPr>
          <a:xfrm>
            <a:off x="1143000" y="4914900"/>
            <a:ext cx="6671310" cy="1203871"/>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3C3C3A"/>
                </a:solidFill>
                <a:latin typeface="Arial" pitchFamily="34" charset="0"/>
                <a:ea typeface="Arial" pitchFamily="34" charset="-122"/>
                <a:cs typeface="Arial" pitchFamily="34" charset="-120"/>
              </a:rPr>
              <a:t>investor@meridianfg.com +1 212 555 0148 1 Harbour Plaza, New York, NY 10004</a:t>
            </a:r>
            <a:endParaRPr lang="en-US" sz="1800" dirty="0"/>
          </a:p>
        </p:txBody>
      </p:sp>
      <p:sp>
        <p:nvSpPr>
          <p:cNvPr id="15" name="Text 13"/>
          <p:cNvSpPr/>
          <p:nvPr/>
        </p:nvSpPr>
        <p:spPr>
          <a:xfrm>
            <a:off x="1143000" y="6347371"/>
            <a:ext cx="6671310" cy="81528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8A8A86"/>
                </a:solidFill>
                <a:latin typeface="Arial" pitchFamily="34" charset="0"/>
                <a:ea typeface="Arial" pitchFamily="34" charset="-122"/>
                <a:cs typeface="Arial" pitchFamily="34" charset="-120"/>
              </a:rPr>
              <a:t>Earnings call replay and the supplementary financial package are available at investor.meridianfg.com.</a:t>
            </a:r>
            <a:endParaRPr lang="en-US" sz="1800" dirty="0"/>
          </a:p>
        </p:txBody>
      </p:sp>
      <p:sp>
        <p:nvSpPr>
          <p:cNvPr id="16" name="Shape 14"/>
          <p:cNvSpPr/>
          <p:nvPr/>
        </p:nvSpPr>
        <p:spPr>
          <a:xfrm>
            <a:off x="9906000" y="3581400"/>
            <a:ext cx="7239000" cy="9525"/>
          </a:xfrm>
          <a:prstGeom prst="rect">
            <a:avLst/>
          </a:prstGeom>
          <a:solidFill>
            <a:srgbClr val="131316">
              <a:alpha val="20000"/>
            </a:srgbClr>
          </a:solidFill>
          <a:ln/>
        </p:spPr>
      </p:sp>
      <p:sp>
        <p:nvSpPr>
          <p:cNvPr id="17" name="Text 15"/>
          <p:cNvSpPr/>
          <p:nvPr/>
        </p:nvSpPr>
        <p:spPr>
          <a:xfrm>
            <a:off x="9906000" y="3238500"/>
            <a:ext cx="7456170" cy="20955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A8A86"/>
                </a:solidFill>
                <a:latin typeface="Arial" pitchFamily="34" charset="0"/>
                <a:ea typeface="Arial" pitchFamily="34" charset="-122"/>
                <a:cs typeface="Arial" pitchFamily="34" charset="-120"/>
              </a:rPr>
              <a:t>IMPORTANT DISCLOSURES</a:t>
            </a:r>
            <a:endParaRPr lang="en-US" sz="1050" dirty="0"/>
          </a:p>
        </p:txBody>
      </p:sp>
      <p:sp>
        <p:nvSpPr>
          <p:cNvPr id="18" name="Text 16"/>
          <p:cNvSpPr/>
          <p:nvPr/>
        </p:nvSpPr>
        <p:spPr>
          <a:xfrm>
            <a:off x="9906000" y="3838575"/>
            <a:ext cx="7456170" cy="1178719"/>
          </a:xfrm>
          <a:prstGeom prst="rect">
            <a:avLst/>
          </a:prstGeom>
          <a:noFill/>
          <a:ln/>
        </p:spPr>
        <p:txBody>
          <a:bodyPr wrap="square" lIns="25400" tIns="25400" rIns="25400" bIns="25400" rtlCol="0" anchor="t">
            <a:normAutofit/>
          </a:bodyPr>
          <a:lstStyle/>
          <a:p>
            <a:pPr algn="l" indent="0" marL="0">
              <a:lnSpc>
                <a:spcPct val="165000"/>
              </a:lnSpc>
              <a:buNone/>
            </a:pPr>
            <a:r>
              <a:rPr lang="en-US" sz="1350" b="1" dirty="0">
                <a:solidFill>
                  <a:srgbClr val="3C3C3A"/>
                </a:solidFill>
                <a:latin typeface="Arial" pitchFamily="34" charset="0"/>
                <a:ea typeface="Arial" pitchFamily="34" charset="-122"/>
                <a:cs typeface="Arial" pitchFamily="34" charset="-120"/>
              </a:rPr>
              <a:t>Forward-looking statements. </a:t>
            </a:r>
            <a:pPr algn="l" indent="0" marL="0">
              <a:lnSpc>
                <a:spcPct val="165000"/>
              </a:lnSpc>
              <a:buNone/>
            </a:pPr>
            <a:r>
              <a:rPr lang="en-US" sz="1350" dirty="0">
                <a:solidFill>
                  <a:srgbClr val="5B5B58"/>
                </a:solidFill>
                <a:latin typeface="Arial" pitchFamily="34" charset="0"/>
                <a:ea typeface="Arial" pitchFamily="34" charset="-122"/>
                <a:cs typeface="Arial" pitchFamily="34" charset="-120"/>
              </a:rPr>
              <a:t>This presentation contains forward-looking statements within the meaning of applicable securities laws. Such statements involve known and unknown risks and uncertainties, and actual results may differ materially. Meridian undertakes no obligation to update them except as required by law.</a:t>
            </a:r>
            <a:endParaRPr lang="en-US" sz="1350" dirty="0"/>
          </a:p>
        </p:txBody>
      </p:sp>
      <p:sp>
        <p:nvSpPr>
          <p:cNvPr id="19" name="Text 17"/>
          <p:cNvSpPr/>
          <p:nvPr/>
        </p:nvSpPr>
        <p:spPr>
          <a:xfrm>
            <a:off x="9906000" y="5188744"/>
            <a:ext cx="7456170" cy="895945"/>
          </a:xfrm>
          <a:prstGeom prst="rect">
            <a:avLst/>
          </a:prstGeom>
          <a:noFill/>
          <a:ln/>
        </p:spPr>
        <p:txBody>
          <a:bodyPr wrap="square" lIns="25400" tIns="25400" rIns="25400" bIns="25400" rtlCol="0" anchor="t">
            <a:normAutofit/>
          </a:bodyPr>
          <a:lstStyle/>
          <a:p>
            <a:pPr algn="l" indent="0" marL="0">
              <a:lnSpc>
                <a:spcPct val="165000"/>
              </a:lnSpc>
              <a:buNone/>
            </a:pPr>
            <a:r>
              <a:rPr lang="en-US" sz="1350" b="1" dirty="0">
                <a:solidFill>
                  <a:srgbClr val="3C3C3A"/>
                </a:solidFill>
                <a:latin typeface="Arial" pitchFamily="34" charset="0"/>
                <a:ea typeface="Arial" pitchFamily="34" charset="-122"/>
                <a:cs typeface="Arial" pitchFamily="34" charset="-120"/>
              </a:rPr>
              <a:t>Non-GAAP measures. </a:t>
            </a:r>
            <a:pPr algn="l" indent="0" marL="0">
              <a:lnSpc>
                <a:spcPct val="165000"/>
              </a:lnSpc>
              <a:buNone/>
            </a:pPr>
            <a:r>
              <a:rPr lang="en-US" sz="1350" dirty="0">
                <a:solidFill>
                  <a:srgbClr val="5B5B58"/>
                </a:solidFill>
                <a:latin typeface="Arial" pitchFamily="34" charset="0"/>
                <a:ea typeface="Arial" pitchFamily="34" charset="-122"/>
                <a:cs typeface="Arial" pitchFamily="34" charset="-120"/>
              </a:rPr>
              <a:t>ROTCE, the efficiency ratio and tangible book value are non-GAAP measures. Reconciliations to the most directly comparable GAAP measures appear in the supplementary financial package.</a:t>
            </a:r>
            <a:endParaRPr lang="en-US" sz="1350" dirty="0"/>
          </a:p>
        </p:txBody>
      </p:sp>
      <p:sp>
        <p:nvSpPr>
          <p:cNvPr id="20" name="Text 18"/>
          <p:cNvSpPr/>
          <p:nvPr/>
        </p:nvSpPr>
        <p:spPr>
          <a:xfrm>
            <a:off x="9906000" y="6256139"/>
            <a:ext cx="7456170" cy="895945"/>
          </a:xfrm>
          <a:prstGeom prst="rect">
            <a:avLst/>
          </a:prstGeom>
          <a:noFill/>
          <a:ln/>
        </p:spPr>
        <p:txBody>
          <a:bodyPr wrap="square" lIns="25400" tIns="25400" rIns="25400" bIns="25400" rtlCol="0" anchor="t">
            <a:normAutofit/>
          </a:bodyPr>
          <a:lstStyle/>
          <a:p>
            <a:pPr algn="l" indent="0" marL="0">
              <a:lnSpc>
                <a:spcPct val="165000"/>
              </a:lnSpc>
              <a:buNone/>
            </a:pPr>
            <a:r>
              <a:rPr lang="en-US" sz="1350" b="1" dirty="0">
                <a:solidFill>
                  <a:srgbClr val="3C3C3A"/>
                </a:solidFill>
                <a:latin typeface="Arial" pitchFamily="34" charset="0"/>
                <a:ea typeface="Arial" pitchFamily="34" charset="-122"/>
                <a:cs typeface="Arial" pitchFamily="34" charset="-120"/>
              </a:rPr>
              <a:t>Illustrative figures. </a:t>
            </a:r>
            <a:pPr algn="l" indent="0" marL="0">
              <a:lnSpc>
                <a:spcPct val="165000"/>
              </a:lnSpc>
              <a:buNone/>
            </a:pPr>
            <a:r>
              <a:rPr lang="en-US" sz="1350" dirty="0">
                <a:solidFill>
                  <a:srgbClr val="5B5B58"/>
                </a:solidFill>
                <a:latin typeface="Arial" pitchFamily="34" charset="0"/>
                <a:ea typeface="Arial" pitchFamily="34" charset="-122"/>
                <a:cs typeface="Arial" pitchFamily="34" charset="-120"/>
              </a:rPr>
              <a:t>Meridian Financial Group and all financial data shown are fictional and presented for illustrative and design purposes only. Nothing herein is an offer to sell or a solicitation to buy any security.</a:t>
            </a:r>
            <a:endParaRPr lang="en-US" sz="1350" dirty="0"/>
          </a:p>
        </p:txBody>
      </p:sp>
      <p:sp>
        <p:nvSpPr>
          <p:cNvPr id="21" name="Text 19"/>
          <p:cNvSpPr/>
          <p:nvPr/>
        </p:nvSpPr>
        <p:spPr>
          <a:xfrm>
            <a:off x="1143000" y="9667875"/>
            <a:ext cx="1510561"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Q3 2026 EARNINGS</a:t>
            </a:r>
            <a:endParaRPr lang="en-US" sz="900" dirty="0"/>
          </a:p>
        </p:txBody>
      </p:sp>
      <p:sp>
        <p:nvSpPr>
          <p:cNvPr id="22" name="Text 20"/>
          <p:cNvSpPr/>
          <p:nvPr/>
        </p:nvSpPr>
        <p:spPr>
          <a:xfrm>
            <a:off x="16794956" y="9667875"/>
            <a:ext cx="426244" cy="180975"/>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8A8A86"/>
                </a:solidFill>
                <a:latin typeface="Arial" pitchFamily="34" charset="0"/>
                <a:ea typeface="Arial" pitchFamily="34" charset="-122"/>
                <a:cs typeface="Arial" pitchFamily="34" charset="-120"/>
              </a:rPr>
              <a:t>11 →</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2026-06-21T08:11:28Z</dcterms:created>
  <dcterms:modified xsi:type="dcterms:W3CDTF">2026-06-21T08:11:28Z</dcterms:modified>
</cp:coreProperties>
</file>