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This town hall is about a real shift in how we work — not a tooling memo. Set the tone: we've grown, and the old way is creaking.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strain. We tripled in size and kept bolting on tools. The cost shows up as coordination drag, not headlines.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reveal. Slow down here. One Vantage isn't a tool — it's one platform, one playbook, one team. Let it land before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substance. Three concrete shifts. Emphasize these are changes in behaviour, not just where files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personal. Walk the before/after rows. This is the slide people screenshot — it answers 'what changes for me Monday morning'.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on pace. We're not flipping a switch — it's phased, with pilots first. Nobody migrates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good looks like by next year. Keep these honest and few. We'll report against them in future town halls.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Culture, not software. These rituals are how the shifts become habit. Light cadence — protect focus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it to the room. This is opt-in participation — pilots, office hours, feedback. Make it feel co-owned, not imposed.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Stay relaxed — there will be hard questions about migration and workload. Welcome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to go next. Keep it on screen as people file out. Everything is one click from the #one-vantage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28000">
                <a:srgbClr val="0A0B12">
                  <a:alpha val="100000"/>
                </a:srgbClr>
              </a:gs>
              <a:gs pos="48000">
                <a:srgbClr val="0A0B12">
                  <a:alpha val="40000"/>
                </a:srgbClr>
              </a:gs>
              <a:gs pos="64000">
                <a:srgbClr val="0A0B1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0B12">
                  <a:alpha val="72000"/>
                </a:srgbClr>
              </a:gs>
              <a:gs pos="34000">
                <a:srgbClr val="0A0B12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5" name="Shape 2"/>
          <p:cNvSpPr/>
          <p:nvPr/>
        </p:nvSpPr>
        <p:spPr>
          <a:xfrm>
            <a:off x="1238250" y="914400"/>
            <a:ext cx="3475583" cy="54292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495425" y="1143000"/>
            <a:ext cx="85725" cy="85725"/>
          </a:xfrm>
          <a:prstGeom prst="ellipse">
            <a:avLst/>
          </a:prstGeom>
          <a:solidFill>
            <a:srgbClr val="5B82FF"/>
          </a:solidFill>
          <a:ln/>
          <a:effectLst>
            <a:outerShdw sx="100000" sy="100000" kx="0" ky="0" algn="bl" rotWithShape="0" blurRad="133350" dist="50800" dir="16200000">
              <a:srgbClr val="5B82FF">
                <a:alpha val="9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714500" y="1047750"/>
            <a:ext cx="28244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EEF0F7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All-hands · Q3 town hall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809119" y="990600"/>
            <a:ext cx="136469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38250" y="3733800"/>
            <a:ext cx="1571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468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CHAPTER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8250" y="4324350"/>
            <a:ext cx="15716250" cy="1452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11850" b="1" spc="-355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We’ve outgrown</a:t>
            </a:r>
            <a:endParaRPr lang="en-US" sz="11850" dirty="0"/>
          </a:p>
        </p:txBody>
      </p:sp>
      <p:sp>
        <p:nvSpPr>
          <p:cNvPr id="11" name="Text 8"/>
          <p:cNvSpPr/>
          <p:nvPr/>
        </p:nvSpPr>
        <p:spPr>
          <a:xfrm>
            <a:off x="1238250" y="5738961"/>
            <a:ext cx="15716250" cy="2084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50" b="1" spc="-355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</a:t>
            </a:r>
            <a:pPr algn="l" indent="0" marL="0">
              <a:lnSpc>
                <a:spcPct val="100000"/>
              </a:lnSpc>
              <a:buNone/>
            </a:pPr>
            <a:r>
              <a:rPr lang="en-US" sz="11850" i="1" spc="-355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work</a:t>
            </a:r>
            <a:pPr algn="l" indent="0" marL="0">
              <a:lnSpc>
                <a:spcPct val="100000"/>
              </a:lnSpc>
              <a:buNone/>
            </a:pPr>
            <a:r>
              <a:rPr lang="en-US" sz="11850" b="1" spc="-355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50" dirty="0"/>
          </a:p>
        </p:txBody>
      </p:sp>
      <p:sp>
        <p:nvSpPr>
          <p:cNvPr id="12" name="Shape 9"/>
          <p:cNvSpPr/>
          <p:nvPr/>
        </p:nvSpPr>
        <p:spPr>
          <a:xfrm>
            <a:off x="1257300" y="8305800"/>
            <a:ext cx="1333500" cy="28575"/>
          </a:xfrm>
          <a:prstGeom prst="rect">
            <a:avLst/>
          </a:prstGeom>
          <a:gradFill rotWithShape="1">
            <a:gsLst>
              <a:gs pos="0">
                <a:srgbClr val="5B82FF">
                  <a:alpha val="100000"/>
                </a:srgbClr>
              </a:gs>
              <a:gs pos="100000">
                <a:srgbClr val="8A7BFF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3" name="Text 10"/>
          <p:cNvSpPr/>
          <p:nvPr/>
        </p:nvSpPr>
        <p:spPr>
          <a:xfrm>
            <a:off x="1257300" y="8629650"/>
            <a:ext cx="961453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EF0F7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are, where we’re going, and the new operating model we’re building together — One Vantage.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13640821" y="8946059"/>
            <a:ext cx="3408929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by the leadership team Recording &amp; slides shared after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22000"/>
                </a:srgbClr>
              </a:gs>
              <a:gs pos="70000">
                <a:srgbClr val="3B6BFF">
                  <a:alpha val="0"/>
                </a:srgbClr>
              </a:gs>
            </a:gsLst>
            <a:path path="circle">
              <a:fillToRect l="88000" t="0" r="12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16680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79627" y="838200"/>
            <a:ext cx="34632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71700"/>
            <a:ext cx="12363450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broke the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seams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3842593"/>
            <a:ext cx="10399395" cy="1411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325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two years we doubled the team and the surface area of the work. We adapted by adding tools and processes on top of each other. It worked — until the coordination cost started outweighing the work itself.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238250" y="6667500"/>
            <a:ext cx="3767138" cy="2331541"/>
          </a:xfrm>
          <a:prstGeom prst="roundRect">
            <a:avLst>
              <a:gd name="adj" fmla="val 89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0675" y="7038975"/>
            <a:ext cx="3368516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32" kern="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590675" y="7964686"/>
            <a:ext cx="315415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team than 24 months ago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53038" y="6667500"/>
            <a:ext cx="3767138" cy="2331541"/>
          </a:xfrm>
          <a:prstGeom prst="roundRect">
            <a:avLst>
              <a:gd name="adj" fmla="val 89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5463" y="7038975"/>
            <a:ext cx="3368516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32" kern="0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605463" y="7964686"/>
            <a:ext cx="315415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doing roughly the same job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67825" y="6667500"/>
            <a:ext cx="3767138" cy="2331541"/>
          </a:xfrm>
          <a:prstGeom prst="roundRect">
            <a:avLst>
              <a:gd name="adj" fmla="val 89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0250" y="7038975"/>
            <a:ext cx="3368516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32" kern="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9620250" y="7964686"/>
            <a:ext cx="315415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week spent re-aligning, not building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282613" y="6667500"/>
            <a:ext cx="3767138" cy="2331541"/>
          </a:xfrm>
          <a:prstGeom prst="roundRect">
            <a:avLst>
              <a:gd name="adj" fmla="val 89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35038" y="7038975"/>
            <a:ext cx="3368516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b="1" spc="-132" kern="0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13635038" y="7964686"/>
            <a:ext cx="336851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“sources of truth”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42000"/>
                </a:srgbClr>
              </a:gs>
              <a:gs pos="64000">
                <a:srgbClr val="3B6BFF">
                  <a:alpha val="0"/>
                </a:srgbClr>
              </a:gs>
            </a:gsLst>
            <a:path path="circle">
              <a:fillToRect l="50000" t="46000" r="50000" b="5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38000">
                <a:srgbClr val="0A0B12">
                  <a:alpha val="0"/>
                </a:srgbClr>
              </a:gs>
              <a:gs pos="100000">
                <a:srgbClr val="0A0B12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7842007" y="2378422"/>
            <a:ext cx="2603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0" kern="0" dirty="0">
                <a:solidFill>
                  <a:srgbClr val="9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55564" y="3026122"/>
            <a:ext cx="9976872" cy="235818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50" i="1" spc="-391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One Vantage</a:t>
            </a:r>
            <a:endParaRPr lang="en-US" sz="13050" dirty="0"/>
          </a:p>
        </p:txBody>
      </p:sp>
      <p:sp>
        <p:nvSpPr>
          <p:cNvPr id="6" name="Text 4"/>
          <p:cNvSpPr/>
          <p:nvPr/>
        </p:nvSpPr>
        <p:spPr>
          <a:xfrm>
            <a:off x="3846195" y="5860554"/>
            <a:ext cx="1059561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EEF0F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one playbook, one team. The way we plan, build, and ship — finally in a single place.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140053" y="7346454"/>
            <a:ext cx="1976438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7228" y="7489329"/>
            <a:ext cx="14620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0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87941" y="7346454"/>
            <a:ext cx="2070348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5116" y="7489329"/>
            <a:ext cx="15559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0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playbook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29739" y="7346454"/>
            <a:ext cx="1618059" cy="5619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6914" y="7489329"/>
            <a:ext cx="11037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EEF0F7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team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A7BFF">
                  <a:alpha val="20000"/>
                </a:srgbClr>
              </a:gs>
              <a:gs pos="68000">
                <a:srgbClr val="8A7BFF">
                  <a:alpha val="0"/>
                </a:srgbClr>
              </a:gs>
            </a:gsLst>
            <a:path path="circle">
              <a:fillToRect l="8000" t="100000" r="92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18260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76948" y="838200"/>
            <a:ext cx="34900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13168417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shifts in how we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238250" y="4305300"/>
            <a:ext cx="5079950" cy="4886325"/>
          </a:xfrm>
          <a:prstGeom prst="roundRect">
            <a:avLst>
              <a:gd name="adj" fmla="val 42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66875" y="4752975"/>
            <a:ext cx="4644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6875" y="6162675"/>
            <a:ext cx="46449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projects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666875" y="6505575"/>
            <a:ext cx="46449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products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666875" y="7267575"/>
            <a:ext cx="4349381" cy="151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stop shipping and forgetting. Teams own outcomes end to end — discovery through to the metric it moves.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03950" y="4305300"/>
            <a:ext cx="5080099" cy="4886325"/>
          </a:xfrm>
          <a:prstGeom prst="roundRect">
            <a:avLst>
              <a:gd name="adj" fmla="val 42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32575" y="4752975"/>
            <a:ext cx="46451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8B9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32575" y="6162675"/>
            <a:ext cx="46451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handoffs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032575" y="6505575"/>
            <a:ext cx="464513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ownership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7032575" y="7267575"/>
            <a:ext cx="434953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tickets thrown over walls. Every piece of work has a clear DRI and a decision log anyone can read.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1969800" y="4305300"/>
            <a:ext cx="5079950" cy="4886325"/>
          </a:xfrm>
          <a:prstGeom prst="roundRect">
            <a:avLst>
              <a:gd name="adj" fmla="val 428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98425" y="4752975"/>
            <a:ext cx="46449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98425" y="6162675"/>
            <a:ext cx="46449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many tools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2398425" y="6505575"/>
            <a:ext cx="464497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one platform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2398425" y="7267575"/>
            <a:ext cx="4349381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build, and ship in one place. Context travels with the work instead of living in someone’s inbox.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18000"/>
                </a:srgbClr>
              </a:gs>
              <a:gs pos="70000">
                <a:srgbClr val="3B6BFF">
                  <a:alpha val="0"/>
                </a:srgbClr>
              </a:gs>
            </a:gsLst>
            <a:path path="circle">
              <a:fillToRect l="92000" t="6000" r="8000" b="94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14889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76055" y="838200"/>
            <a:ext cx="34989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9394552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</a:t>
            </a:r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like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4305300"/>
            <a:ext cx="31432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EF0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95750" y="4305300"/>
            <a:ext cx="7124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EEF0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72750" y="4305300"/>
            <a:ext cx="7124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9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ONE VANTAGE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8250" y="4752975"/>
            <a:ext cx="15811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065812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95750" y="5048250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Re-typed across three docs every quarter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572750" y="5048250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living plan that rolls up automatically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38250" y="5692973"/>
            <a:ext cx="15811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6005810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095750" y="5988248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“Who’s working on this?” in five Slack threads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572750" y="5988248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visible to anyone, in one view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38250" y="6632972"/>
            <a:ext cx="15811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6945809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095750" y="6928247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in DMs, lost by Friday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572750" y="6928247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with the work, searchable later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38250" y="8512969"/>
            <a:ext cx="15811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38250" y="7572970"/>
            <a:ext cx="15811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38250" y="7885807"/>
            <a:ext cx="31432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095750" y="7868245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ticket, a wait, a follow-up nudge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572750" y="7868245"/>
            <a:ext cx="67437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EEF0F7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context, owned by one DRI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B82FF">
                  <a:alpha val="20000"/>
                </a:srgbClr>
              </a:gs>
              <a:gs pos="66000">
                <a:srgbClr val="5B82FF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301735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AHEAD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72632" y="838200"/>
            <a:ext cx="3533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9796790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Phased, not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3409950"/>
            <a:ext cx="1098804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measured rollout — pilots first, the whole company next, and the old tools retired last.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479774" y="4705350"/>
            <a:ext cx="16166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52564" y="5114925"/>
            <a:ext cx="1124099" cy="5048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6BFF">
                  <a:alpha val="100000"/>
                </a:srgbClr>
              </a:gs>
              <a:gs pos="100000">
                <a:srgbClr val="6E5BFF">
                  <a:alpha val="100000"/>
                </a:srgbClr>
              </a:gs>
            </a:gsLst>
            <a:lin ang="600000" scaled="0"/>
          </a:gradFill>
          <a:ln/>
          <a:effectLst>
            <a:outerShdw sx="100000" sy="100000" kx="0" ky="0" algn="bl" rotWithShape="0" blurRad="266700" dist="76200" dir="5400000">
              <a:srgbClr val="3B6BFF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6414" y="5229225"/>
            <a:ext cx="5525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6496348" y="4705350"/>
            <a:ext cx="14765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– SEP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75239" y="5114925"/>
            <a:ext cx="984498" cy="5238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08614" y="5238750"/>
            <a:ext cx="3939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0F7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395496" y="4705350"/>
            <a:ext cx="15948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– DEC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28114" y="5114925"/>
            <a:ext cx="984498" cy="5238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61489" y="5238750"/>
            <a:ext cx="3939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0F7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4432012" y="4705350"/>
            <a:ext cx="141086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EEF0F7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2027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580989" y="5114925"/>
            <a:ext cx="984498" cy="523875"/>
          </a:xfrm>
          <a:prstGeom prst="roundRect">
            <a:avLst>
              <a:gd name="adj" fmla="val 50000"/>
            </a:avLst>
          </a:prstGeom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14364" y="5238750"/>
            <a:ext cx="39394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EEF0F7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428750" y="6200775"/>
            <a:ext cx="15430500" cy="190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50" y="6191250"/>
            <a:ext cx="180975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6BFF">
                  <a:alpha val="100000"/>
                </a:srgbClr>
              </a:gs>
              <a:gs pos="100000">
                <a:srgbClr val="8A7BFF">
                  <a:alpha val="100000"/>
                </a:srgbClr>
              </a:gs>
            </a:gsLst>
            <a:lin ang="0" scaled="0"/>
          </a:gradFill>
          <a:ln/>
          <a:effectLst>
            <a:outerShdw sx="100000" sy="100000" kx="0" ky="0" algn="bl" rotWithShape="0" blurRad="171450" dist="50800" dir="16200000">
              <a:srgbClr val="5B82FF">
                <a:alpha val="6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90863" y="6086475"/>
            <a:ext cx="247650" cy="247650"/>
          </a:xfrm>
          <a:prstGeom prst="ellipse">
            <a:avLst/>
          </a:prstGeom>
          <a:gradFill rotWithShape="1">
            <a:gsLst>
              <a:gs pos="0">
                <a:srgbClr val="5B82FF">
                  <a:alpha val="100000"/>
                </a:srgbClr>
              </a:gs>
              <a:gs pos="100000">
                <a:srgbClr val="8A7BFF">
                  <a:alpha val="100000"/>
                </a:srgbClr>
              </a:gs>
            </a:gsLst>
            <a:lin ang="600000" scaled="0"/>
          </a:gradFill>
          <a:ln/>
          <a:effectLst>
            <a:outerShdw sx="100000" sy="100000" kx="0" ky="0" algn="bl" rotWithShape="0" blurRad="101600" dist="50800" dir="16200000">
              <a:srgbClr val="5B82F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3738" y="6086475"/>
            <a:ext cx="247650" cy="247650"/>
          </a:xfrm>
          <a:prstGeom prst="ellipse">
            <a:avLst/>
          </a:prstGeom>
          <a:solidFill>
            <a:srgbClr val="0A0B12"/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96613" y="6086475"/>
            <a:ext cx="247650" cy="247650"/>
          </a:xfrm>
          <a:prstGeom prst="ellipse">
            <a:avLst/>
          </a:prstGeom>
          <a:solidFill>
            <a:srgbClr val="0A0B12"/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949487" y="6086475"/>
            <a:ext cx="247650" cy="247650"/>
          </a:xfrm>
          <a:prstGeom prst="ellipse">
            <a:avLst/>
          </a:prstGeom>
          <a:solidFill>
            <a:srgbClr val="0A0B12"/>
          </a:solidFill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38751" y="6781800"/>
            <a:ext cx="35518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551765" y="7362825"/>
            <a:ext cx="33258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stood up, data migrated, the playbook drafted with team leads.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91626" y="6781800"/>
            <a:ext cx="35518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teams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504640" y="7362825"/>
            <a:ext cx="33258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teams run fully on One Vantage and shape it from real use.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4501" y="6781800"/>
            <a:ext cx="35518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Company-wide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9457515" y="7362825"/>
            <a:ext cx="332584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onboarded with hands-on support and office hours.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97376" y="6781800"/>
            <a:ext cx="355187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Sunset legacy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3410390" y="7362825"/>
            <a:ext cx="332584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tools retired. One source of truth, fully in place.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20000"/>
                </a:srgbClr>
              </a:gs>
              <a:gs pos="70000">
                <a:srgbClr val="3B6BFF">
                  <a:alpha val="0"/>
                </a:srgbClr>
              </a:gs>
            </a:gsLst>
            <a:path path="circle">
              <a:fillToRect l="6000" t="0" r="94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48214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68911" y="838200"/>
            <a:ext cx="3570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11921922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we’ll know it’s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238250" y="4305300"/>
            <a:ext cx="7781925" cy="5219700"/>
          </a:xfrm>
          <a:prstGeom prst="roundRect">
            <a:avLst>
              <a:gd name="adj" fmla="val 4015"/>
            </a:avLst>
          </a:prstGeom>
          <a:gradFill rotWithShape="1">
            <a:gsLst>
              <a:gs pos="0">
                <a:srgbClr val="3B6BFF">
                  <a:alpha val="22000"/>
                </a:srgbClr>
              </a:gs>
              <a:gs pos="100000">
                <a:srgbClr val="8A7BFF">
                  <a:alpha val="14000"/>
                </a:srgbClr>
              </a:gs>
            </a:gsLst>
            <a:lin ang="3600000" scaled="0"/>
          </a:gra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4975" y="4791075"/>
            <a:ext cx="75333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EEF0F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outcome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704975" y="6855321"/>
            <a:ext cx="7533323" cy="1266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1250" b="1" spc="-337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86000"/>
              </a:lnSpc>
              <a:buNone/>
            </a:pPr>
            <a:r>
              <a:rPr lang="en-US" sz="4800" b="1" spc="-337" kern="0" dirty="0">
                <a:solidFill>
                  <a:srgbClr val="EEF0F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250" dirty="0"/>
          </a:p>
        </p:txBody>
      </p:sp>
      <p:sp>
        <p:nvSpPr>
          <p:cNvPr id="10" name="Text 8"/>
          <p:cNvSpPr/>
          <p:nvPr/>
        </p:nvSpPr>
        <p:spPr>
          <a:xfrm>
            <a:off x="1704975" y="8293596"/>
            <a:ext cx="7053929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dirty="0">
                <a:solidFill>
                  <a:srgbClr val="EEF0F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the 11 tools we juggle today — one place the whole company plans and ships in.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267825" y="4305300"/>
            <a:ext cx="3767138" cy="2486025"/>
          </a:xfrm>
          <a:prstGeom prst="roundRect">
            <a:avLst>
              <a:gd name="adj" fmla="val 842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4657725"/>
            <a:ext cx="3410426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550" b="1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5550" dirty="0"/>
          </a:p>
        </p:txBody>
      </p:sp>
      <p:sp>
        <p:nvSpPr>
          <p:cNvPr id="13" name="Text 11"/>
          <p:cNvSpPr/>
          <p:nvPr/>
        </p:nvSpPr>
        <p:spPr>
          <a:xfrm>
            <a:off x="9601200" y="5798939"/>
            <a:ext cx="3193399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back per person, per month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82613" y="4305300"/>
            <a:ext cx="3767138" cy="2486025"/>
          </a:xfrm>
          <a:prstGeom prst="roundRect">
            <a:avLst>
              <a:gd name="adj" fmla="val 842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15988" y="4657725"/>
            <a:ext cx="3410426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5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550" dirty="0"/>
          </a:p>
        </p:txBody>
      </p:sp>
      <p:sp>
        <p:nvSpPr>
          <p:cNvPr id="16" name="Text 14"/>
          <p:cNvSpPr/>
          <p:nvPr/>
        </p:nvSpPr>
        <p:spPr>
          <a:xfrm>
            <a:off x="13615988" y="6118920"/>
            <a:ext cx="34104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teams onboarded by Q4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67825" y="7038975"/>
            <a:ext cx="3767138" cy="2486025"/>
          </a:xfrm>
          <a:prstGeom prst="roundRect">
            <a:avLst>
              <a:gd name="adj" fmla="val 842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7391400"/>
            <a:ext cx="3410426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550" b="1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wk</a:t>
            </a:r>
            <a:endParaRPr lang="en-US" sz="5550" dirty="0"/>
          </a:p>
        </p:txBody>
      </p:sp>
      <p:sp>
        <p:nvSpPr>
          <p:cNvPr id="19" name="Text 17"/>
          <p:cNvSpPr/>
          <p:nvPr/>
        </p:nvSpPr>
        <p:spPr>
          <a:xfrm>
            <a:off x="9601200" y="8852595"/>
            <a:ext cx="34104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staged work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82613" y="7038975"/>
            <a:ext cx="3767138" cy="2486025"/>
          </a:xfrm>
          <a:prstGeom prst="roundRect">
            <a:avLst>
              <a:gd name="adj" fmla="val 842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15988" y="7391400"/>
            <a:ext cx="3410426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5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50" dirty="0"/>
          </a:p>
        </p:txBody>
      </p:sp>
      <p:sp>
        <p:nvSpPr>
          <p:cNvPr id="22" name="Text 20"/>
          <p:cNvSpPr/>
          <p:nvPr/>
        </p:nvSpPr>
        <p:spPr>
          <a:xfrm>
            <a:off x="13615988" y="8852595"/>
            <a:ext cx="341042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truth, trusted by all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A7BFF">
                  <a:alpha val="20000"/>
                </a:srgbClr>
              </a:gs>
              <a:gs pos="68000">
                <a:srgbClr val="8A7BFF">
                  <a:alpha val="0"/>
                </a:srgbClr>
              </a:gs>
            </a:gsLst>
            <a:path path="circle">
              <a:fillToRect l="96000" t="100000" r="4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232551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RITUALS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95254" y="838200"/>
            <a:ext cx="3306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12363450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lighter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cadence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3505200"/>
            <a:ext cx="1020318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rituals replace a calendar full of status meetings. Everything else is async, in the platform.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38250" y="5334000"/>
            <a:ext cx="3767138" cy="2514600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0675" y="5724525"/>
            <a:ext cx="3368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90675" y="6172200"/>
            <a:ext cx="3368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demo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90675" y="6772275"/>
            <a:ext cx="31541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progress, not slides. 20 minutes, whole team.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53038" y="5334000"/>
            <a:ext cx="3767138" cy="2514600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5463" y="5724525"/>
            <a:ext cx="3368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8B9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FORTNIGHTLY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05463" y="6172200"/>
            <a:ext cx="3368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05463" y="6772275"/>
            <a:ext cx="31541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Re-prioritise against the living plan, together.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67825" y="5334000"/>
            <a:ext cx="3767138" cy="2514600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0250" y="5724525"/>
            <a:ext cx="3368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20250" y="6172200"/>
            <a:ext cx="3368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review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620250" y="6772275"/>
            <a:ext cx="31541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work move the number? Honest, no spin.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82613" y="5334000"/>
            <a:ext cx="3767138" cy="2514600"/>
          </a:xfrm>
          <a:prstGeom prst="roundRect">
            <a:avLst>
              <a:gd name="adj" fmla="val 833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635038" y="5724525"/>
            <a:ext cx="336851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635038" y="6172200"/>
            <a:ext cx="33685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30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635038" y="6772275"/>
            <a:ext cx="315415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keep, drop, and change about how we work.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20000"/>
                </a:srgbClr>
              </a:gs>
              <a:gs pos="70000">
                <a:srgbClr val="3B6BFF">
                  <a:alpha val="0"/>
                </a:srgbClr>
              </a:gs>
            </a:gsLst>
            <a:path path="circle">
              <a:fillToRect l="14000" t="0" r="86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25054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INVOLVED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72632" y="838200"/>
            <a:ext cx="3533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90750"/>
            <a:ext cx="5494020" cy="229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with us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238250" y="4776043"/>
            <a:ext cx="549402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EEF0F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works only if it’s ours. Here are four ways to shape One Vantage from day one.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524750" y="2190750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24750" y="2524125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62950" y="2524125"/>
            <a:ext cx="744901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 pilot team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362950" y="3019425"/>
            <a:ext cx="744901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playbook from real work. Sign-ups open this week.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524750" y="3700463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524750" y="4033837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9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362950" y="4033837"/>
            <a:ext cx="503787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into office hours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362950" y="4529138"/>
            <a:ext cx="5037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Thursdays, 2–3pm. No question too small.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7524750" y="5210175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524750" y="5543550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9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362950" y="5543550"/>
            <a:ext cx="526739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#one-vantage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362950" y="6038850"/>
            <a:ext cx="526739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Updates, demos, and decisions in the open.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7524750" y="8229600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524750" y="6719888"/>
            <a:ext cx="95250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24750" y="7053263"/>
            <a:ext cx="647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FA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362950" y="7053263"/>
            <a:ext cx="61558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unfiltered feedback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8362950" y="7548563"/>
            <a:ext cx="61558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EEF0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form is anonymous and read weekly.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B6BFF">
                  <a:alpha val="44000"/>
                </a:srgbClr>
              </a:gs>
              <a:gs pos="62000">
                <a:srgbClr val="3B6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36000">
                <a:srgbClr val="0A0B12">
                  <a:alpha val="0"/>
                </a:srgbClr>
              </a:gs>
              <a:gs pos="100000">
                <a:srgbClr val="0A0B12">
                  <a:alpha val="6200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7862634" y="2713732"/>
            <a:ext cx="25627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540" kern="0" dirty="0">
                <a:solidFill>
                  <a:srgbClr val="9FB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TO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14425" y="3323332"/>
            <a:ext cx="10459001" cy="2878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5750" i="1" spc="-472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15750" dirty="0"/>
          </a:p>
        </p:txBody>
      </p:sp>
      <p:sp>
        <p:nvSpPr>
          <p:cNvPr id="6" name="Text 4"/>
          <p:cNvSpPr/>
          <p:nvPr/>
        </p:nvSpPr>
        <p:spPr>
          <a:xfrm>
            <a:off x="4336733" y="6658868"/>
            <a:ext cx="96145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EF0F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 now, or anytime in #one-vantage. The recording and these slides go out right after.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B82FF">
                  <a:alpha val="18000"/>
                </a:srgbClr>
              </a:gs>
              <a:gs pos="68000">
                <a:srgbClr val="5B82FF">
                  <a:alpha val="0"/>
                </a:srgbClr>
              </a:gs>
            </a:gsLst>
            <a:path path="circle">
              <a:fillToRect l="90000" t="100000" r="10000" b="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238250" y="857250"/>
            <a:ext cx="20106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768911" y="838200"/>
            <a:ext cx="3570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1409700"/>
            <a:ext cx="1581150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114550"/>
            <a:ext cx="6297305" cy="1385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</a:t>
            </a:r>
            <a:pPr algn="l" indent="0" marL="0">
              <a:lnSpc>
                <a:spcPct val="100000"/>
              </a:lnSpc>
              <a:buNone/>
            </a:pPr>
            <a:r>
              <a:rPr lang="en-US" sz="7800" i="1" spc="-216" kern="0" dirty="0">
                <a:gradFill rotWithShape="1">
                  <a:gsLst>
                    <a:gs pos="0">
                      <a:srgbClr val="6E92FF">
                        <a:alpha val="100000"/>
                      </a:srgbClr>
                    </a:gs>
                    <a:gs pos="100000">
                      <a:srgbClr val="9B8CFF">
                        <a:alpha val="100000"/>
                      </a:srgbClr>
                    </a:gs>
                  </a:gsLst>
                  <a:lin ang="600000" scaled="0"/>
                </a:gra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1238250" y="4305300"/>
            <a:ext cx="7781925" cy="1562100"/>
          </a:xfrm>
          <a:prstGeom prst="roundRect">
            <a:avLst>
              <a:gd name="adj" fmla="val 1341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7825" y="4695825"/>
            <a:ext cx="520535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Vantage playbook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647825" y="5200650"/>
            <a:ext cx="52053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plan, build, and ship — the full guide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92429" y="4948238"/>
            <a:ext cx="1449988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go/playbook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67825" y="4305300"/>
            <a:ext cx="7781925" cy="1562100"/>
          </a:xfrm>
          <a:prstGeom prst="roundRect">
            <a:avLst>
              <a:gd name="adj" fmla="val 1341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77400" y="4695825"/>
            <a:ext cx="52826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guide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677400" y="5200650"/>
            <a:ext cx="5282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your team’s work across, step by step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12951" y="4948238"/>
            <a:ext cx="1203424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go/migrate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8250" y="6115050"/>
            <a:ext cx="7781925" cy="1562100"/>
          </a:xfrm>
          <a:prstGeom prst="roundRect">
            <a:avLst>
              <a:gd name="adj" fmla="val 1341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7825" y="6505575"/>
            <a:ext cx="47245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&amp; the honest answers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647825" y="7010400"/>
            <a:ext cx="47245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after every office hours session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31200" y="6757988"/>
            <a:ext cx="755600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go/faq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67825" y="6115050"/>
            <a:ext cx="7781925" cy="1562100"/>
          </a:xfrm>
          <a:prstGeom prst="roundRect">
            <a:avLst>
              <a:gd name="adj" fmla="val 1341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77400" y="6505575"/>
            <a:ext cx="486368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E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sign-up &amp; feedback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9677400" y="7010400"/>
            <a:ext cx="486368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 team or send anonymous feedback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460563" y="6757988"/>
            <a:ext cx="1255812" cy="3143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go/vantage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8250" y="9401175"/>
            <a:ext cx="73355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EF0F7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lives one click from the #one-vantage channel.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2026-06-21T08:12:50Z</dcterms:created>
  <dcterms:modified xsi:type="dcterms:W3CDTF">2026-06-21T08:12:50Z</dcterms:modified>
</cp:coreProperties>
</file>